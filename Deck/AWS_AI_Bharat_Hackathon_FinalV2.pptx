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60" r:id="rId6"/>
    <p:sldId id="262" r:id="rId7"/>
    <p:sldId id="263" r:id="rId8"/>
    <p:sldId id="264" r:id="rId9"/>
    <p:sldId id="265" r:id="rId10"/>
    <p:sldId id="266" r:id="rId11"/>
    <p:sldId id="261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  <p:embeddedFont>
      <p:font typeface="Segoe UI" panose="020B05020402040202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B0881DD-0EF7-47B3-A93F-082FA14FE205}">
          <p14:sldIdLst>
            <p14:sldId id="256"/>
            <p14:sldId id="257"/>
            <p14:sldId id="258"/>
            <p14:sldId id="267"/>
            <p14:sldId id="260"/>
            <p14:sldId id="262"/>
            <p14:sldId id="263"/>
            <p14:sldId id="264"/>
            <p14:sldId id="265"/>
            <p14:sldId id="266"/>
          </p14:sldIdLst>
        </p14:section>
        <p14:section name="Other" id="{CFC99E9E-93BC-4BC5-A49C-5D38F9989CC4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1B22274-E62A-9DB5-0F01-716266BE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>
            <a:extLst>
              <a:ext uri="{FF2B5EF4-FFF2-40B4-BE49-F238E27FC236}">
                <a16:creationId xmlns:a16="http://schemas.microsoft.com/office/drawing/2014/main" id="{F4BD66E2-96D6-6FBC-DB21-0AA9805FA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>
            <a:extLst>
              <a:ext uri="{FF2B5EF4-FFF2-40B4-BE49-F238E27FC236}">
                <a16:creationId xmlns:a16="http://schemas.microsoft.com/office/drawing/2014/main" id="{E288DEDC-B593-7B8B-5F2A-7942E80AAD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89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63" y="3308420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LeanX365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9300" y="4170411"/>
            <a:ext cx="8520600" cy="91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70000"/>
              </a:lnSpc>
            </a:pPr>
            <a:r>
              <a:rPr lang="en-GB" sz="11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 </a:t>
            </a:r>
            <a:r>
              <a:rPr lang="en-US" sz="1050" b="1" dirty="0">
                <a:solidFill>
                  <a:srgbClr val="202729"/>
                </a:solidFill>
                <a:latin typeface="Manrope SemiBold"/>
              </a:rPr>
              <a:t>AI-Enabled Decentralized Care Orchestration for India</a:t>
            </a:r>
          </a:p>
          <a:p>
            <a:pPr lvl="0">
              <a:lnSpc>
                <a:spcPct val="70000"/>
              </a:lnSpc>
            </a:pPr>
            <a:endParaRPr lang="en-US" sz="1050" b="1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lvl="0">
              <a:lnSpc>
                <a:spcPct val="70000"/>
              </a:lnSpc>
            </a:pPr>
            <a:endParaRPr lang="en-US" sz="1050" b="1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lvl="0">
              <a:lnSpc>
                <a:spcPct val="150000"/>
              </a:lnSpc>
              <a:spcAft>
                <a:spcPts val="1200"/>
              </a:spcAft>
            </a:pPr>
            <a:r>
              <a:rPr lang="en-US" sz="1050" b="1" dirty="0">
                <a:solidFill>
                  <a:srgbClr val="202729"/>
                </a:solidFill>
                <a:latin typeface="Manrope SemiBold"/>
                <a:sym typeface="Manrope SemiBold"/>
              </a:rPr>
              <a:t>India’s healthcare system is overburdened because nearly 70% of hospital visits are for conditions that could be managed locally, due to the lack of intelligent, coordinated, and India-specific care routing.</a:t>
            </a:r>
            <a:endParaRPr lang="en-GB" sz="1050" b="1" dirty="0">
              <a:solidFill>
                <a:srgbClr val="202729"/>
              </a:solidFill>
              <a:latin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726711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Nanda kumar</a:t>
            </a: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4A05B213-97C0-0A21-753F-39221564CD31}"/>
              </a:ext>
            </a:extLst>
          </p:cNvPr>
          <p:cNvSpPr txBox="1"/>
          <p:nvPr/>
        </p:nvSpPr>
        <p:spPr>
          <a:xfrm>
            <a:off x="4467895" y="3752120"/>
            <a:ext cx="4618326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2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Member’s Name : Aravinthan &amp; </a:t>
            </a:r>
            <a:r>
              <a:rPr lang="en-US" sz="1200" dirty="0" err="1">
                <a:solidFill>
                  <a:srgbClr val="202729"/>
                </a:solidFill>
                <a:latin typeface="Manrope SemiBold"/>
              </a:rPr>
              <a:t>Deiveegam</a:t>
            </a:r>
            <a:r>
              <a:rPr lang="en-US" sz="1200" b="1" dirty="0"/>
              <a:t> </a:t>
            </a: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E5D52-D5D9-56F8-09AC-112473D64902}"/>
              </a:ext>
            </a:extLst>
          </p:cNvPr>
          <p:cNvSpPr txBox="1"/>
          <p:nvPr/>
        </p:nvSpPr>
        <p:spPr>
          <a:xfrm>
            <a:off x="311699" y="1141191"/>
            <a:ext cx="7709471" cy="2652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000" b="1" i="0" u="none" dirty="0">
                <a:solidFill>
                  <a:srgbClr val="444444"/>
                </a:solidFill>
                <a:latin typeface="Segoe UI"/>
              </a:rPr>
              <a:t>Problem Statement:</a:t>
            </a:r>
          </a:p>
          <a:p>
            <a:pPr algn="just">
              <a:lnSpc>
                <a:spcPct val="140000"/>
              </a:lnSpc>
            </a:pPr>
            <a:r>
              <a:rPr lang="en-US" sz="1000" i="0" u="none" dirty="0">
                <a:solidFill>
                  <a:srgbClr val="444444"/>
                </a:solidFill>
                <a:latin typeface="Segoe UI"/>
              </a:rPr>
              <a:t>India faces a critical healthcare crisis where 70% of patients visit hospitals for issues that could be handled locally, creating bottlenecks and delays. </a:t>
            </a:r>
          </a:p>
          <a:p>
            <a:pPr algn="just">
              <a:lnSpc>
                <a:spcPct val="140000"/>
              </a:lnSpc>
            </a:pPr>
            <a:endParaRPr lang="en-US" sz="1000" dirty="0">
              <a:solidFill>
                <a:srgbClr val="444444"/>
              </a:solidFill>
              <a:latin typeface="Segoe UI"/>
            </a:endParaRPr>
          </a:p>
          <a:p>
            <a:pPr algn="just">
              <a:lnSpc>
                <a:spcPct val="140000"/>
              </a:lnSpc>
            </a:pPr>
            <a:r>
              <a:rPr lang="en-US" sz="1000" b="1" dirty="0">
                <a:solidFill>
                  <a:srgbClr val="444444"/>
                </a:solidFill>
                <a:latin typeface="Segoe UI"/>
              </a:rPr>
              <a:t>Solution: </a:t>
            </a:r>
            <a:r>
              <a:rPr lang="en-US" sz="1000" i="0" u="none" dirty="0">
                <a:solidFill>
                  <a:srgbClr val="444444"/>
                </a:solidFill>
                <a:latin typeface="Segoe UI"/>
              </a:rPr>
              <a:t>Our AI-Enabled Decentralized Care Orchestration System addresses this by: </a:t>
            </a:r>
          </a:p>
          <a:p>
            <a:pPr algn="just">
              <a:lnSpc>
                <a:spcPct val="140000"/>
              </a:lnSpc>
            </a:pPr>
            <a:endParaRPr lang="en-US" sz="1000" i="0" u="none" dirty="0">
              <a:solidFill>
                <a:srgbClr val="444444"/>
              </a:solidFill>
              <a:latin typeface="Segoe UI"/>
            </a:endParaRPr>
          </a:p>
          <a:p>
            <a:pPr marL="171450" indent="-1714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000" i="0" u="none" dirty="0">
                <a:solidFill>
                  <a:srgbClr val="444444"/>
                </a:solidFill>
                <a:latin typeface="Segoe UI"/>
              </a:rPr>
              <a:t>Intelligently routing patients to appropriate care levels </a:t>
            </a:r>
          </a:p>
          <a:p>
            <a:pPr marL="171450" indent="-1714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000" i="0" u="none" dirty="0">
                <a:solidFill>
                  <a:srgbClr val="444444"/>
                </a:solidFill>
                <a:latin typeface="Segoe UI"/>
              </a:rPr>
              <a:t>Using AI assistance with mandatory human oversight </a:t>
            </a:r>
          </a:p>
          <a:p>
            <a:pPr marL="171450" indent="-1714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000" i="0" u="none" dirty="0">
                <a:solidFill>
                  <a:srgbClr val="444444"/>
                </a:solidFill>
                <a:latin typeface="Segoe UI"/>
              </a:rPr>
              <a:t>Coordinating care across entire healthcare networks </a:t>
            </a:r>
          </a:p>
          <a:p>
            <a:pPr marL="171450" indent="-1714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000" i="0" u="none" dirty="0">
                <a:solidFill>
                  <a:srgbClr val="444444"/>
                </a:solidFill>
                <a:latin typeface="Segoe UI"/>
              </a:rPr>
              <a:t>Optimizing for India's unique challenges (multilingual, low-bandwidth, cost-effective) </a:t>
            </a:r>
          </a:p>
          <a:p>
            <a:pPr algn="just">
              <a:lnSpc>
                <a:spcPct val="140000"/>
              </a:lnSpc>
            </a:pPr>
            <a:br>
              <a:rPr lang="en-US" sz="1000" dirty="0">
                <a:solidFill>
                  <a:srgbClr val="444444"/>
                </a:solidFill>
                <a:latin typeface="Segoe UI"/>
              </a:rPr>
            </a:br>
            <a:r>
              <a:rPr lang="en-US" sz="1000" i="0" u="none" dirty="0">
                <a:solidFill>
                  <a:srgbClr val="444444"/>
                </a:solidFill>
                <a:latin typeface="Segoe UI"/>
              </a:rPr>
              <a:t>The system reduces hospital overload by 30% while improving care access and continuity across India's diverse healthcare landscape.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00E9D-336F-FF98-5757-DF4CF7443414}"/>
              </a:ext>
            </a:extLst>
          </p:cNvPr>
          <p:cNvSpPr txBox="1"/>
          <p:nvPr/>
        </p:nvSpPr>
        <p:spPr>
          <a:xfrm>
            <a:off x="311699" y="654967"/>
            <a:ext cx="4572000" cy="39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100" b="1" dirty="0">
                <a:solidFill>
                  <a:srgbClr val="444444"/>
                </a:solidFill>
                <a:latin typeface="Segoe UI"/>
                <a:sym typeface="Manrope"/>
              </a:rPr>
              <a:t>Brief</a:t>
            </a: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GB" sz="1100" b="1" dirty="0">
                <a:solidFill>
                  <a:srgbClr val="444444"/>
                </a:solidFill>
                <a:latin typeface="Segoe UI"/>
                <a:sym typeface="Manrope"/>
              </a:rPr>
              <a:t>about the Idea: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D84B06-EC68-2536-9D29-595707180CF3}"/>
              </a:ext>
            </a:extLst>
          </p:cNvPr>
          <p:cNvSpPr txBox="1"/>
          <p:nvPr/>
        </p:nvSpPr>
        <p:spPr>
          <a:xfrm>
            <a:off x="477371" y="874059"/>
            <a:ext cx="8189258" cy="336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900" b="1" i="0" u="none" dirty="0">
                <a:solidFill>
                  <a:srgbClr val="444444"/>
                </a:solidFill>
                <a:latin typeface="Segoe UI"/>
              </a:rPr>
              <a:t>How Different from Existing Ideas: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Hybrid AI-Human approach vs. fully automated or manual systems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Network-wide orchestration vs. single hospital focus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Serverless AWS architecture vs. expensive infrastructure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India-specific design vs. generic solutions 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Cost-effective ($45-75/month) vs. expensive enterprise systems </a:t>
            </a:r>
          </a:p>
          <a:p>
            <a:pPr algn="l">
              <a:lnSpc>
                <a:spcPct val="140000"/>
              </a:lnSpc>
            </a:pPr>
            <a:endParaRPr lang="en-US" sz="900" b="1" dirty="0">
              <a:solidFill>
                <a:srgbClr val="444444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lang="en-US" sz="900" b="1" i="0" u="none" dirty="0">
                <a:solidFill>
                  <a:srgbClr val="444444"/>
                </a:solidFill>
                <a:latin typeface="Segoe UI"/>
              </a:rPr>
              <a:t>How It Solves the Problem: 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Intelligent triage reduces inappropriate hospital visits by 30% 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Human oversight ensures medical safety and accountability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Network coordination improves resource utilization 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Cultural adaptation increases adoption and effectiveness</a:t>
            </a:r>
            <a:br>
              <a:rPr lang="en-US" sz="900" b="1" i="0" u="none" dirty="0">
                <a:solidFill>
                  <a:srgbClr val="444444"/>
                </a:solidFill>
                <a:latin typeface="Segoe UI"/>
              </a:rPr>
            </a:br>
            <a:endParaRPr lang="en-US" sz="900" b="1" i="0" u="none" dirty="0">
              <a:solidFill>
                <a:srgbClr val="444444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lang="en-US" sz="900" b="1" i="0" u="none" dirty="0">
                <a:solidFill>
                  <a:srgbClr val="444444"/>
                </a:solidFill>
                <a:latin typeface="Segoe UI"/>
              </a:rPr>
              <a:t>USP (Unique Selling Proposition): </a:t>
            </a:r>
            <a:endParaRPr lang="en-US" sz="900" b="1" dirty="0">
              <a:solidFill>
                <a:srgbClr val="444444"/>
              </a:solidFill>
              <a:latin typeface="Segoe UI"/>
            </a:endParaRP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Human-Supervised AI: AI assists, humans decide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India-First Design: Multilingual, low-bandwidth, culturally sensitive </a:t>
            </a:r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900" i="0" u="none" dirty="0">
                <a:solidFill>
                  <a:srgbClr val="444444"/>
                </a:solidFill>
                <a:latin typeface="Segoe UI"/>
              </a:rPr>
              <a:t>Cost-Effective Serverless: Enterprise features at startup costs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21DD61A-AE2E-DE87-8244-AAF97987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>
            <a:extLst>
              <a:ext uri="{FF2B5EF4-FFF2-40B4-BE49-F238E27FC236}">
                <a16:creationId xmlns:a16="http://schemas.microsoft.com/office/drawing/2014/main" id="{B4D9A829-21A9-ED37-C5D7-6F5E492BA3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13D3BE-29E3-FA76-D0CF-AD7B065F21ED}"/>
              </a:ext>
            </a:extLst>
          </p:cNvPr>
          <p:cNvSpPr txBox="1"/>
          <p:nvPr/>
        </p:nvSpPr>
        <p:spPr>
          <a:xfrm>
            <a:off x="420221" y="456449"/>
            <a:ext cx="4635872" cy="32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4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List of key features offered by the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62ADB-3DC3-35CA-2E1C-52986DF681F2}"/>
              </a:ext>
            </a:extLst>
          </p:cNvPr>
          <p:cNvSpPr txBox="1"/>
          <p:nvPr/>
        </p:nvSpPr>
        <p:spPr>
          <a:xfrm>
            <a:off x="420221" y="781923"/>
            <a:ext cx="61621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/>
              <a:t>🩺 1. Smart Triage &amp; Care Routing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Rule-based clinical triage (Emergency → Self-Care)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AI invoked </a:t>
            </a:r>
            <a:r>
              <a:rPr lang="en-US" sz="800" b="1" dirty="0"/>
              <a:t>only when rules are insufficient</a:t>
            </a:r>
            <a:r>
              <a:rPr lang="en-US" sz="800" dirty="0"/>
              <a:t> (max 1 AI call per case)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Routes patients to the </a:t>
            </a:r>
            <a:r>
              <a:rPr lang="en-US" sz="800" i="1" dirty="0"/>
              <a:t>right care level</a:t>
            </a:r>
            <a:r>
              <a:rPr lang="en-US" sz="800" dirty="0"/>
              <a:t>, not default hospitals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b="1" dirty="0"/>
              <a:t>👨‍⚕️ 2. Human-Supervised Responsible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Mandatory human approval for all AI recommendations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Supervisor judgment is always final (AI assists, humans decide)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Complete audit trail for safety, trust, and accountability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b="1" dirty="0"/>
              <a:t>🔗 3. End-to-End Care Continuity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Single Care Episode ID for the full patient journey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Cross-provider history, referrals, and outcomes tracked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Seamless handoffs with no repeated data entry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b="1" dirty="0"/>
              <a:t>🏥 4. Network-Wide Provider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Real-time provider availability and capacity visibility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Intelligent ranking by distance, cost, and patient preferences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Automated referrals, escalations, and follow-ups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b="1" dirty="0"/>
              <a:t>🇮🇳 5. India-First Patient Experience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Multilingual support (Hindi, English, regional-ready)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Voice input and low-bandwidth, offline-capable PWA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Cultural preferences and rural connectivity built-in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b="1" dirty="0"/>
              <a:t>💰 6. Scalable &amp; Cost-Efficient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Fully serverless AWS architecture (pay-per-use, no lock-in)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Target: </a:t>
            </a:r>
            <a:r>
              <a:rPr lang="en-US" sz="800" b="1" dirty="0"/>
              <a:t>30% reduction in unnecessary hospital visits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Affordable for clinics, states, and large-scale public deployment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7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detailed_flow.png">
            <a:extLst>
              <a:ext uri="{FF2B5EF4-FFF2-40B4-BE49-F238E27FC236}">
                <a16:creationId xmlns:a16="http://schemas.microsoft.com/office/drawing/2014/main" id="{107C0EB6-41CB-A0C0-B31E-0968AD9CD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284" y="1028700"/>
            <a:ext cx="7137027" cy="3568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CF4E3F-606C-E9D5-CF6C-A4DDA6F5FD78}"/>
              </a:ext>
            </a:extLst>
          </p:cNvPr>
          <p:cNvSpPr txBox="1"/>
          <p:nvPr/>
        </p:nvSpPr>
        <p:spPr>
          <a:xfrm>
            <a:off x="107575" y="602373"/>
            <a:ext cx="4619064" cy="32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4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Process flow diagram or Use-case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DA039-E269-7DB6-55D1-BF25AB7912DA}"/>
              </a:ext>
            </a:extLst>
          </p:cNvPr>
          <p:cNvSpPr txBox="1"/>
          <p:nvPr/>
        </p:nvSpPr>
        <p:spPr>
          <a:xfrm>
            <a:off x="107575" y="3912980"/>
            <a:ext cx="46190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6-Step Patient Care Journey:</a:t>
            </a:r>
          </a:p>
          <a:p>
            <a:endParaRPr lang="en-US" sz="800" dirty="0"/>
          </a:p>
          <a:p>
            <a:pPr marL="228600" indent="-228600">
              <a:buFont typeface="+mj-lt"/>
              <a:buAutoNum type="arabicParenR"/>
            </a:pPr>
            <a:r>
              <a:rPr lang="en-US" sz="800" dirty="0"/>
              <a:t>Symptom Input - Multilingual text/voice interface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800" dirty="0"/>
              <a:t>Rule-Based Triage - Clinical protocols assess urgency  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800" dirty="0"/>
              <a:t>AI Assessment - Only when rules insufficient (max 1 call)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800" dirty="0"/>
              <a:t>Human Validation - Mandatory supervisor approval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800" dirty="0"/>
              <a:t>Care Routing - Intelligent provider matching &amp; guidance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800" dirty="0"/>
              <a:t>Episode Tracking - Complete care continuity &amp;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ws_styled_icons.png">
            <a:extLst>
              <a:ext uri="{FF2B5EF4-FFF2-40B4-BE49-F238E27FC236}">
                <a16:creationId xmlns:a16="http://schemas.microsoft.com/office/drawing/2014/main" id="{6A7E0358-E68A-BFAB-3C26-557431D21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58" y="1064685"/>
            <a:ext cx="7799294" cy="3899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C1B4D-F513-87F2-BD40-5B2B5973D323}"/>
              </a:ext>
            </a:extLst>
          </p:cNvPr>
          <p:cNvSpPr txBox="1"/>
          <p:nvPr/>
        </p:nvSpPr>
        <p:spPr>
          <a:xfrm>
            <a:off x="67235" y="560042"/>
            <a:ext cx="4572000" cy="32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US" sz="14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Architecture diagram of the proposed solution:</a:t>
            </a:r>
            <a:endParaRPr lang="en-US" dirty="0">
              <a:solidFill>
                <a:srgbClr val="434343"/>
              </a:solidFill>
              <a:latin typeface="Segoe UI" panose="020B0502040204020203" pitchFamily="34" charset="0"/>
              <a:ea typeface="Manrope"/>
              <a:cs typeface="Segoe UI" panose="020B0502040204020203" pitchFamily="34" charset="0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F47628-42E7-7262-8955-7A69D539E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17709"/>
              </p:ext>
            </p:extLst>
          </p:nvPr>
        </p:nvGraphicFramePr>
        <p:xfrm>
          <a:off x="416860" y="993590"/>
          <a:ext cx="40004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376">
                <a:tc>
                  <a:txBody>
                    <a:bodyPr/>
                    <a:lstStyle/>
                    <a:p>
                      <a:r>
                        <a:rPr sz="10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Progressive Web App (PWA)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Cross-platform patient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React/TypeScript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Modern, responsive UI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/>
                        <a:t>API &amp;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Amazon 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RESTful API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Amazon Cognito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User authentication &amp; authorization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/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AWS Lambda (7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Serverless microservices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Node.js/TypeScript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Runtime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564">
                <a:tc>
                  <a:txBody>
                    <a:bodyPr/>
                    <a:lstStyle/>
                    <a:p>
                      <a:r>
                        <a:rPr sz="90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Amazon DynamoDB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NoSQL database for patient/provider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Amazon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Static asset hosting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/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Amazon Bedrock (Claude 3 Haiku)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AI-assisted triage (limited usage)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Amazon Transcribe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Voice-to-text conversion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7743D60-FA33-D06D-5694-50FC21F91667}"/>
              </a:ext>
            </a:extLst>
          </p:cNvPr>
          <p:cNvSpPr txBox="1"/>
          <p:nvPr/>
        </p:nvSpPr>
        <p:spPr>
          <a:xfrm>
            <a:off x="309282" y="568510"/>
            <a:ext cx="4572000" cy="286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US" sz="12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Technologies to be used in the solution:</a:t>
            </a:r>
            <a:endParaRPr lang="en-US" sz="1200" dirty="0">
              <a:solidFill>
                <a:srgbClr val="434343"/>
              </a:solidFill>
              <a:latin typeface="Segoe UI" panose="020B0502040204020203" pitchFamily="34" charset="0"/>
              <a:ea typeface="Manrope"/>
              <a:cs typeface="Segoe UI" panose="020B0502040204020203" pitchFamily="34" charset="0"/>
              <a:sym typeface="Manrope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CCDAD8-C4F6-1869-3092-DB9827E9F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521635"/>
              </p:ext>
            </p:extLst>
          </p:nvPr>
        </p:nvGraphicFramePr>
        <p:xfrm>
          <a:off x="4780428" y="993590"/>
          <a:ext cx="4094643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376">
                <a:tc>
                  <a:txBody>
                    <a:bodyPr/>
                    <a:lstStyle/>
                    <a:p>
                      <a:r>
                        <a:rPr sz="10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 dirty="0"/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Amazon SNS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Critical notifications &amp;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WebSocket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Real-time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Amazon CloudWatch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System monitoring &amp; logging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AWS 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Distributed tracing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AWS KMS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encryption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AWS 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Access control &amp;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5353">
                <a:tc>
                  <a:txBody>
                    <a:bodyPr/>
                    <a:lstStyle/>
                    <a:p>
                      <a:r>
                        <a:rPr sz="90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AWS CDK/CloudFormation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Infrastructure as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047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GitHub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CI/CD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EF21EB-1A0F-8630-21B4-4DD99F318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796986"/>
              </p:ext>
            </p:extLst>
          </p:nvPr>
        </p:nvGraphicFramePr>
        <p:xfrm>
          <a:off x="403411" y="1170912"/>
          <a:ext cx="4168589" cy="332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908">
                <a:tc>
                  <a:txBody>
                    <a:bodyPr/>
                    <a:lstStyle/>
                    <a:p>
                      <a:r>
                        <a:rPr sz="900" b="1"/>
                        <a:t>AWS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Monthly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 dirty="0"/>
                        <a:t>Usage Scenario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/>
                        <a:t>AWS 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7 microservices, 1M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/>
                        <a:t>Amazon DynamoDB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25GB storage, 25 RCU/WCU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/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1M API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/>
                        <a:t>S3 + CloudFront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PWA hosting &amp; CDN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/>
                        <a:t>Amazon Cognito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50,000 MAU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/>
                        <a:t>CloudWatch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Basic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635">
                <a:tc>
                  <a:txBody>
                    <a:bodyPr/>
                    <a:lstStyle/>
                    <a:p>
                      <a:r>
                        <a:rPr sz="800" dirty="0"/>
                        <a:t>Amazon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Pay-per-use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$30-50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Limited AI calls (1 per episode)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 dirty="0"/>
                        <a:t>Amazon SNS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Critical notifications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636">
                <a:tc>
                  <a:txBody>
                    <a:bodyPr/>
                    <a:lstStyle/>
                    <a:p>
                      <a:r>
                        <a:rPr sz="800"/>
                        <a:t>Amazon Transcribe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Voice input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454">
                <a:tc>
                  <a:txBody>
                    <a:bodyPr/>
                    <a:lstStyle/>
                    <a:p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$45-75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10,000 care episodes/month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D8786A-BB2D-4A9A-6FB4-C4D6BEA7E768}"/>
              </a:ext>
            </a:extLst>
          </p:cNvPr>
          <p:cNvSpPr txBox="1"/>
          <p:nvPr/>
        </p:nvSpPr>
        <p:spPr>
          <a:xfrm>
            <a:off x="268335" y="566366"/>
            <a:ext cx="4168589" cy="32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4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Estimated implementation cost (MVP):</a:t>
            </a:r>
            <a:endParaRPr lang="en-GB" dirty="0">
              <a:solidFill>
                <a:srgbClr val="434343"/>
              </a:solidFill>
              <a:latin typeface="Segoe UI" panose="020B0502040204020203" pitchFamily="34" charset="0"/>
              <a:ea typeface="Manrope"/>
              <a:cs typeface="Segoe UI" panose="020B0502040204020203" pitchFamily="34" charset="0"/>
              <a:sym typeface="Manrope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14AD97-0D98-8578-003E-15648A8DF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752040"/>
              </p:ext>
            </p:extLst>
          </p:nvPr>
        </p:nvGraphicFramePr>
        <p:xfrm>
          <a:off x="5025228" y="1159910"/>
          <a:ext cx="3774480" cy="1524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87240">
                  <a:extLst>
                    <a:ext uri="{9D8B030D-6E8A-4147-A177-3AD203B41FA5}">
                      <a16:colId xmlns:a16="http://schemas.microsoft.com/office/drawing/2014/main" val="2774969595"/>
                    </a:ext>
                  </a:extLst>
                </a:gridCol>
                <a:gridCol w="1887240">
                  <a:extLst>
                    <a:ext uri="{9D8B030D-6E8A-4147-A177-3AD203B41FA5}">
                      <a16:colId xmlns:a16="http://schemas.microsoft.com/office/drawing/2014/main" val="1483530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Monthly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Estimated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916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8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$300–450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696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$2,500–4,000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21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$18K–30K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21121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7A5D6086-3EA2-3A06-A480-DFCAA711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228" y="3051587"/>
            <a:ext cx="333456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Still far cheaper than: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Traditional SaaS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On-prem healthcare systems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Any Indian hospital ERP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Pay-per-use model scales with adoption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upfront infrastructure investment required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125457-4159-369D-49AC-D5E0966139F6}"/>
              </a:ext>
            </a:extLst>
          </p:cNvPr>
          <p:cNvSpPr txBox="1"/>
          <p:nvPr/>
        </p:nvSpPr>
        <p:spPr>
          <a:xfrm>
            <a:off x="4903358" y="566366"/>
            <a:ext cx="4168589" cy="32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4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Estimated implementation cost (Production):</a:t>
            </a:r>
            <a:endParaRPr lang="en-GB" dirty="0">
              <a:solidFill>
                <a:srgbClr val="434343"/>
              </a:solidFill>
              <a:latin typeface="Segoe UI" panose="020B0502040204020203" pitchFamily="34" charset="0"/>
              <a:ea typeface="Manrope"/>
              <a:cs typeface="Segoe UI" panose="020B0502040204020203" pitchFamily="34" charset="0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AWS AI for Bharat - Healthcare Track Alignment</a:t>
            </a:r>
          </a:p>
          <a:p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Addressing India's Healthcare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Reduces 70% inappropriate hospital visits through intelligent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Multilingual support for diverse Indian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Low-bandwidth design for rural connectivity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Cost-effective solution accessible to all economic segments</a:t>
            </a:r>
          </a:p>
          <a:p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Responsible AI Innovation: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Human-supervised AI ensures medical safety and accountability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Limited AI usage (1 call per episode) maintains cost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Transparent decision-making with complete audit trails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Builds trust through human oversight at every critical decision</a:t>
            </a:r>
          </a:p>
          <a:p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Measurable Impact Potential: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30% reduction in hospital overload within 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50% faster time to appropriate care for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40% reduction in patient travel costs and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Scalable to serve millions across India's healthcare network</a:t>
            </a:r>
          </a:p>
          <a:p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Technical Excellence: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Production-ready AWS serverless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23 formal correctness properties with property-based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Comprehensive security and compliance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Ready for immediate pilot deployment and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Patient Portal (PWA)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Multilingual symptom input (Hindi/English)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Voice-to-text capability for low-literacy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Offline-capable for poor connectivity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Simple, intuitive interface optimized for mobile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Healthcare Supervisor Dashboard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Real-time validation queue with patient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AI recommendation review and override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Emergency alert system with escalation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Complete audit trail and decision tracking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Provider Network Interface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Real-time capacity and availability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Patient referral acceptance and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Care episode context and history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Quality metrics and performance analytics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System Administrator Console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Network-wide monitoring and health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Provider onboarding and credential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System configuration and rule customization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Cost tracking and optimization insights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b="1" dirty="0">
              <a:solidFill>
                <a:srgbClr val="434343"/>
              </a:solidFill>
              <a:latin typeface="Segoe UI" panose="020B0502040204020203" pitchFamily="34" charset="0"/>
              <a:ea typeface="Manrope"/>
              <a:cs typeface="Segoe UI" panose="020B0502040204020203" pitchFamily="34" charset="0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88FAE-4C5F-BDEB-3E91-CE850B77AFAD}"/>
              </a:ext>
            </a:extLst>
          </p:cNvPr>
          <p:cNvSpPr txBox="1"/>
          <p:nvPr/>
        </p:nvSpPr>
        <p:spPr>
          <a:xfrm>
            <a:off x="311700" y="555773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Screens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1103</Words>
  <Application>Microsoft Office PowerPoint</Application>
  <PresentationFormat>On-screen Show (16:9)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Manrope SemiBold</vt:lpstr>
      <vt:lpstr>Manrope</vt:lpstr>
      <vt:lpstr>Segoe UI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Nanda</dc:creator>
  <cp:lastModifiedBy>Nanda Kumar N</cp:lastModifiedBy>
  <cp:revision>14</cp:revision>
  <dcterms:modified xsi:type="dcterms:W3CDTF">2026-02-06T13:50:26Z</dcterms:modified>
</cp:coreProperties>
</file>