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70" r:id="rId2"/>
    <p:sldId id="271" r:id="rId3"/>
    <p:sldId id="258" r:id="rId4"/>
    <p:sldId id="259" r:id="rId5"/>
    <p:sldId id="260" r:id="rId6"/>
    <p:sldId id="261" r:id="rId7"/>
    <p:sldId id="262" r:id="rId8"/>
    <p:sldId id="273" r:id="rId9"/>
    <p:sldId id="27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 type="screen16x9"/>
  <p:notesSz cx="6858000" cy="9144000"/>
  <p:embeddedFontLst>
    <p:embeddedFont>
      <p:font typeface="Manrope" panose="020B0604020202020204" charset="0"/>
      <p:regular r:id="rId19"/>
      <p:bold r:id="rId20"/>
    </p:embeddedFont>
    <p:embeddedFont>
      <p:font typeface="Manrope SemiBold" panose="020B0604020202020204" charset="0"/>
      <p:regular r:id="rId21"/>
      <p:bold r:id="rId22"/>
    </p:embeddedFont>
    <p:embeddedFont>
      <p:font typeface="Segoe UI" panose="020B0502040204020203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b91012bb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b91012bb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b91012bb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b91012bb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b91012bb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b91012bb2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b91012bb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b91012bb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6c7e621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6c7e621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63" y="3308420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LeanX365</a:t>
            </a:r>
            <a:endParaRPr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09300" y="4170411"/>
            <a:ext cx="8520600" cy="91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lvl="0">
              <a:lnSpc>
                <a:spcPct val="70000"/>
              </a:lnSpc>
            </a:pPr>
            <a:r>
              <a:rPr lang="en-GB" sz="1100" dirty="0">
                <a:solidFill>
                  <a:srgbClr val="202729"/>
                </a:solidFill>
                <a:latin typeface="+mj-lt"/>
                <a:ea typeface="Manrope SemiBold"/>
                <a:cs typeface="Manrope SemiBold"/>
                <a:sym typeface="Manrope SemiBold"/>
              </a:rPr>
              <a:t>Problem Statement :  </a:t>
            </a:r>
            <a:r>
              <a:rPr lang="en-GB" sz="1100" b="1" dirty="0">
                <a:solidFill>
                  <a:srgbClr val="202729"/>
                </a:solidFill>
                <a:latin typeface="+mj-lt"/>
                <a:ea typeface="Manrope SemiBold"/>
                <a:cs typeface="Manrope SemiBold"/>
                <a:sym typeface="Manrope SemiBold"/>
              </a:rPr>
              <a:t>Arogya AI - </a:t>
            </a:r>
            <a:r>
              <a:rPr lang="en-US" sz="1050" b="1" dirty="0">
                <a:solidFill>
                  <a:srgbClr val="202729"/>
                </a:solidFill>
                <a:latin typeface="+mj-lt"/>
              </a:rPr>
              <a:t>AI-Enabled Decentralized Care Orchestration for India</a:t>
            </a:r>
          </a:p>
          <a:p>
            <a:pPr lvl="0">
              <a:lnSpc>
                <a:spcPct val="70000"/>
              </a:lnSpc>
            </a:pPr>
            <a:endParaRPr lang="en-US" sz="1050" b="1" dirty="0">
              <a:solidFill>
                <a:srgbClr val="202729"/>
              </a:solidFill>
              <a:latin typeface="+mj-lt"/>
              <a:sym typeface="Manrope SemiBold"/>
            </a:endParaRPr>
          </a:p>
          <a:p>
            <a:pPr lvl="0">
              <a:lnSpc>
                <a:spcPct val="70000"/>
              </a:lnSpc>
            </a:pPr>
            <a:endParaRPr lang="en-US" sz="1050" b="1" dirty="0">
              <a:solidFill>
                <a:srgbClr val="202729"/>
              </a:solidFill>
              <a:latin typeface="+mj-lt"/>
              <a:sym typeface="Manrope SemiBold"/>
            </a:endParaRPr>
          </a:p>
          <a:p>
            <a:pPr lvl="0">
              <a:lnSpc>
                <a:spcPct val="150000"/>
              </a:lnSpc>
              <a:spcAft>
                <a:spcPts val="1200"/>
              </a:spcAft>
            </a:pPr>
            <a:r>
              <a:rPr lang="en-US" sz="1050" b="1" dirty="0">
                <a:solidFill>
                  <a:srgbClr val="202729"/>
                </a:solidFill>
                <a:latin typeface="+mj-lt"/>
                <a:sym typeface="Manrope SemiBold"/>
              </a:rPr>
              <a:t>India’s healthcare system is overburdened because nearly 70% of hospital visits are for conditions that could be managed locally, due to the lack of intelligent, coordinated, and India-specific care routing.</a:t>
            </a:r>
            <a:endParaRPr lang="en-GB" sz="1050" b="1" dirty="0">
              <a:solidFill>
                <a:srgbClr val="202729"/>
              </a:solidFill>
              <a:latin typeface="+mj-lt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726711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 Nanda kumar</a:t>
            </a:r>
            <a:endParaRPr sz="12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" name="Google Shape;57;p13">
            <a:extLst>
              <a:ext uri="{FF2B5EF4-FFF2-40B4-BE49-F238E27FC236}">
                <a16:creationId xmlns:a16="http://schemas.microsoft.com/office/drawing/2014/main" id="{4A05B213-97C0-0A21-753F-39221564CD31}"/>
              </a:ext>
            </a:extLst>
          </p:cNvPr>
          <p:cNvSpPr txBox="1"/>
          <p:nvPr/>
        </p:nvSpPr>
        <p:spPr>
          <a:xfrm>
            <a:off x="4643963" y="3726711"/>
            <a:ext cx="4618326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80000"/>
              </a:lnSpc>
            </a:pPr>
            <a:r>
              <a:rPr lang="en-GB" sz="12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Member’s Name : Aravinthan &amp; </a:t>
            </a:r>
            <a:r>
              <a:rPr lang="en-US" sz="1200" dirty="0" err="1">
                <a:solidFill>
                  <a:srgbClr val="202729"/>
                </a:solidFill>
                <a:latin typeface="Manrope SemiBold"/>
              </a:rPr>
              <a:t>Deiveegam</a:t>
            </a:r>
            <a:r>
              <a:rPr lang="en-US" sz="1200" b="1" dirty="0"/>
              <a:t> </a:t>
            </a:r>
            <a:endParaRPr sz="12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3E5D52-D5D9-56F8-09AC-112473D64902}"/>
              </a:ext>
            </a:extLst>
          </p:cNvPr>
          <p:cNvSpPr txBox="1"/>
          <p:nvPr/>
        </p:nvSpPr>
        <p:spPr>
          <a:xfrm>
            <a:off x="311699" y="1141191"/>
            <a:ext cx="7709471" cy="2868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000" b="1" i="0" u="none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Statement:</a:t>
            </a:r>
          </a:p>
          <a:p>
            <a:pPr algn="just">
              <a:lnSpc>
                <a:spcPct val="140000"/>
              </a:lnSpc>
            </a:pPr>
            <a:r>
              <a:rPr lang="en-US" sz="1000" dirty="0">
                <a:solidFill>
                  <a:schemeClr val="tx1"/>
                </a:solidFill>
              </a:rPr>
              <a:t>India faces a critical healthcare crisis where 70% of patients visit hospitals for issues that could be handled locally, creating bottlenecks and delays. </a:t>
            </a:r>
          </a:p>
          <a:p>
            <a:pPr algn="just">
              <a:lnSpc>
                <a:spcPct val="140000"/>
              </a:lnSpc>
            </a:pPr>
            <a:endParaRPr lang="en-US" sz="1000" dirty="0">
              <a:solidFill>
                <a:srgbClr val="444444"/>
              </a:solidFill>
              <a:latin typeface="Segoe UI"/>
            </a:endParaRPr>
          </a:p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444444"/>
                </a:solidFill>
                <a:latin typeface="+mj-lt"/>
              </a:rPr>
              <a:t>Solution: </a:t>
            </a:r>
            <a:r>
              <a:rPr lang="en-US" sz="1000" dirty="0">
                <a:solidFill>
                  <a:schemeClr val="tx1"/>
                </a:solidFill>
              </a:rPr>
              <a:t>Our </a:t>
            </a:r>
            <a:r>
              <a:rPr lang="en-GB" sz="1000" b="1" dirty="0">
                <a:solidFill>
                  <a:srgbClr val="202729"/>
                </a:solidFill>
                <a:ea typeface="Manrope SemiBold"/>
                <a:cs typeface="Manrope SemiBold"/>
                <a:sym typeface="Manrope SemiBold"/>
              </a:rPr>
              <a:t>Arogya AI  - </a:t>
            </a:r>
            <a:r>
              <a:rPr lang="en-US" sz="1000" dirty="0">
                <a:solidFill>
                  <a:schemeClr val="tx1"/>
                </a:solidFill>
              </a:rPr>
              <a:t>AI-Enabled Decentralized Care Orchestration System addresses this by: </a:t>
            </a:r>
          </a:p>
          <a:p>
            <a:pPr>
              <a:lnSpc>
                <a:spcPct val="140000"/>
              </a:lnSpc>
            </a:pPr>
            <a:endParaRPr lang="en-US" sz="10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140000"/>
              </a:lnSpc>
              <a:buFont typeface="Arial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Intelligently routing patients to appropriate care levels </a:t>
            </a:r>
          </a:p>
          <a:p>
            <a:pPr marL="171450" indent="-171450">
              <a:lnSpc>
                <a:spcPct val="140000"/>
              </a:lnSpc>
              <a:buFont typeface="Arial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Using AI assistance with mandatory human oversight </a:t>
            </a:r>
          </a:p>
          <a:p>
            <a:pPr marL="171450" indent="-171450">
              <a:lnSpc>
                <a:spcPct val="140000"/>
              </a:lnSpc>
              <a:buFont typeface="Arial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Coordinating care across entire healthcare networks </a:t>
            </a:r>
          </a:p>
          <a:p>
            <a:pPr marL="171450" indent="-171450">
              <a:lnSpc>
                <a:spcPct val="140000"/>
              </a:lnSpc>
              <a:buFont typeface="Arial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Optimizing for India's unique challenges (multilingual, low-bandwidth, cost-effective) </a:t>
            </a:r>
          </a:p>
          <a:p>
            <a:pPr>
              <a:lnSpc>
                <a:spcPct val="140000"/>
              </a:lnSpc>
            </a:pP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system reduces hospital overload by 30% while improving care access and continuity across India's diverse healthcare landscape.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100E9D-336F-FF98-5757-DF4CF7443414}"/>
              </a:ext>
            </a:extLst>
          </p:cNvPr>
          <p:cNvSpPr txBox="1"/>
          <p:nvPr/>
        </p:nvSpPr>
        <p:spPr>
          <a:xfrm>
            <a:off x="264634" y="648243"/>
            <a:ext cx="4572000" cy="392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100" b="1" dirty="0">
                <a:solidFill>
                  <a:srgbClr val="444444"/>
                </a:solidFill>
                <a:latin typeface="Segoe UI"/>
                <a:sym typeface="Manrope"/>
              </a:rPr>
              <a:t>Brief</a:t>
            </a:r>
            <a:r>
              <a:rPr lang="en-GB" sz="18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lang="en-GB" sz="1100" b="1" dirty="0">
                <a:solidFill>
                  <a:srgbClr val="444444"/>
                </a:solidFill>
                <a:latin typeface="Segoe UI"/>
                <a:sym typeface="Manrope"/>
              </a:rPr>
              <a:t>about the Idea: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11700" y="863550"/>
            <a:ext cx="6267900" cy="28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sz="1000" b="1" dirty="0">
                <a:solidFill>
                  <a:schemeClr val="tx1"/>
                </a:solidFill>
              </a:rPr>
              <a:t>Why AI is required:</a:t>
            </a:r>
            <a:endParaRPr sz="1000" b="1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>
              <a:spcBef>
                <a:spcPts val="200"/>
              </a:spcBef>
            </a:pPr>
            <a:r>
              <a:rPr sz="1000" dirty="0">
                <a:solidFill>
                  <a:schemeClr val="tx1"/>
                </a:solidFill>
              </a:rPr>
              <a:t>• 900M Indians lack timely healthcare access — human triage takes 45 min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chemeClr val="tx1"/>
                </a:solidFill>
              </a:rPr>
              <a:t>• AI enables instant symptom analysis with 94% confidence in 3 seconds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chemeClr val="tx1"/>
                </a:solidFill>
              </a:rPr>
              <a:t>• 3 Agentic AI agents autonomously handle 81% of cases 24/7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chemeClr val="tx1"/>
                </a:solidFill>
              </a:rPr>
              <a:t>• 6-level reasoning mimics expert clinical decision-making</a:t>
            </a:r>
          </a:p>
          <a:p>
            <a:pPr>
              <a:spcBef>
                <a:spcPts val="800"/>
              </a:spcBef>
            </a:pPr>
            <a:r>
              <a:rPr sz="1000" b="1" dirty="0">
                <a:solidFill>
                  <a:schemeClr val="tx1"/>
                </a:solidFill>
              </a:rPr>
              <a:t>How AWS services are used: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chemeClr val="tx1"/>
                </a:solidFill>
              </a:rPr>
              <a:t>• Amazon Bedrock — AI reasoning engine for all 3 agents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chemeClr val="tx1"/>
                </a:solidFill>
              </a:rPr>
              <a:t>• AWS Lambda — Serverless compute for agent execution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chemeClr val="tx1"/>
                </a:solidFill>
              </a:rPr>
              <a:t>• Amazon S3 — Static website hosting for React frontend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chemeClr val="tx1"/>
                </a:solidFill>
              </a:rPr>
              <a:t>• Amazon DynamoDB — Patient data and case storage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chemeClr val="tx1"/>
                </a:solidFill>
              </a:rPr>
              <a:t>• Amazon Polly — Multilingual voice support (10 languages)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chemeClr val="tx1"/>
                </a:solidFill>
              </a:rPr>
              <a:t>• CloudWatch — Monitoring and observability</a:t>
            </a:r>
          </a:p>
          <a:p>
            <a:pPr>
              <a:spcBef>
                <a:spcPts val="800"/>
              </a:spcBef>
            </a:pPr>
            <a:r>
              <a:rPr sz="1000" b="1" dirty="0">
                <a:solidFill>
                  <a:schemeClr val="tx1"/>
                </a:solidFill>
              </a:rPr>
              <a:t>Value AI adds to user experience: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chemeClr val="tx1"/>
                </a:solidFill>
              </a:rPr>
              <a:t>• Instant triage: 30s vs 45 min (90X faster)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chemeClr val="tx1"/>
                </a:solidFill>
              </a:rPr>
              <a:t>• Multilingual: Healthcare in your mother tongue (10 languages)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chemeClr val="tx1"/>
                </a:solidFill>
              </a:rPr>
              <a:t>• Smart matching: 95% AI facility match accuracy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chemeClr val="tx1"/>
                </a:solidFill>
              </a:rPr>
              <a:t>• Autonomous: 81% cases need zero human intervention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chemeClr val="tx1"/>
                </a:solidFill>
              </a:rPr>
              <a:t>• Affordable: $0.0006 per patient (0.06 cents)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sz="1000" b="1" dirty="0">
                <a:solidFill>
                  <a:schemeClr val="tx1"/>
                </a:solidFill>
              </a:rPr>
              <a:t>List of features offered by the solution:</a:t>
            </a:r>
            <a:endParaRPr sz="1000" b="1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  <a:p>
            <a:endParaRPr sz="1000" b="1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  <a:p>
            <a:r>
              <a:rPr sz="1000" b="1" dirty="0">
                <a:solidFill>
                  <a:schemeClr val="tx1"/>
                </a:solidFill>
              </a:rPr>
              <a:t>🏥 Patient Features:</a:t>
            </a:r>
          </a:p>
          <a:p>
            <a:pPr lvl="4"/>
            <a:r>
              <a:rPr sz="1000" dirty="0">
                <a:solidFill>
                  <a:schemeClr val="tx1"/>
                </a:solidFill>
              </a:rPr>
              <a:t>  • Multilingual symptom intake (10 Indian languages)</a:t>
            </a:r>
          </a:p>
          <a:p>
            <a:pPr lvl="4"/>
            <a:r>
              <a:rPr sz="1000" dirty="0">
                <a:solidFill>
                  <a:schemeClr val="tx1"/>
                </a:solidFill>
              </a:rPr>
              <a:t>  • Simple tap-based symptom tiles (no medical jargon)</a:t>
            </a:r>
          </a:p>
          <a:p>
            <a:pPr lvl="4"/>
            <a:r>
              <a:rPr sz="1000" dirty="0">
                <a:solidFill>
                  <a:schemeClr val="tx1"/>
                </a:solidFill>
              </a:rPr>
              <a:t>  • AI-powered triage with 94% confidence score</a:t>
            </a:r>
          </a:p>
          <a:p>
            <a:pPr lvl="4"/>
            <a:r>
              <a:rPr sz="1000" dirty="0">
                <a:solidFill>
                  <a:schemeClr val="tx1"/>
                </a:solidFill>
              </a:rPr>
              <a:t>  • Smart facility recommendations (95% AI match)</a:t>
            </a:r>
          </a:p>
          <a:p>
            <a:pPr lvl="4"/>
            <a:r>
              <a:rPr sz="1000" dirty="0">
                <a:solidFill>
                  <a:schemeClr val="tx1"/>
                </a:solidFill>
              </a:rPr>
              <a:t>  • Instant appointment booking with confirmation</a:t>
            </a:r>
          </a:p>
          <a:p>
            <a:pPr lvl="4"/>
            <a:r>
              <a:rPr sz="1000" dirty="0">
                <a:solidFill>
                  <a:schemeClr val="tx1"/>
                </a:solidFill>
              </a:rPr>
              <a:t>  • Emergency detection and priority routing</a:t>
            </a:r>
          </a:p>
          <a:p>
            <a:endParaRPr sz="1000" dirty="0">
              <a:solidFill>
                <a:schemeClr val="tx1"/>
              </a:solidFill>
            </a:endParaRPr>
          </a:p>
          <a:p>
            <a:r>
              <a:rPr sz="1000" b="1" dirty="0">
                <a:solidFill>
                  <a:schemeClr val="tx1"/>
                </a:solidFill>
              </a:rPr>
              <a:t>🤖 Agentic AI Features:</a:t>
            </a:r>
          </a:p>
          <a:p>
            <a:r>
              <a:rPr sz="1000" dirty="0">
                <a:solidFill>
                  <a:schemeClr val="tx1"/>
                </a:solidFill>
              </a:rPr>
              <a:t>  • 3 Autonomous AI Agents (Supervisor, Care Pathway, Clinical Decision)</a:t>
            </a:r>
          </a:p>
          <a:p>
            <a:r>
              <a:rPr sz="1000" dirty="0">
                <a:solidFill>
                  <a:schemeClr val="tx1"/>
                </a:solidFill>
              </a:rPr>
              <a:t>  • 6-Level Multi-Reasoning Process</a:t>
            </a:r>
          </a:p>
          <a:p>
            <a:r>
              <a:rPr sz="1000" dirty="0">
                <a:solidFill>
                  <a:schemeClr val="tx1"/>
                </a:solidFill>
              </a:rPr>
              <a:t>  • 81% Auto-Approval Rate (38/47 cases)</a:t>
            </a:r>
          </a:p>
          <a:p>
            <a:r>
              <a:rPr sz="1000" dirty="0">
                <a:solidFill>
                  <a:schemeClr val="tx1"/>
                </a:solidFill>
              </a:rPr>
              <a:t>  • Intelligent Escalation (knows when to ask humans)</a:t>
            </a:r>
          </a:p>
          <a:p>
            <a:r>
              <a:rPr sz="1000" dirty="0">
                <a:solidFill>
                  <a:schemeClr val="tx1"/>
                </a:solidFill>
              </a:rPr>
              <a:t>  • 24/7 Operation — no downtime</a:t>
            </a:r>
          </a:p>
          <a:p>
            <a:endParaRPr sz="1000" dirty="0">
              <a:solidFill>
                <a:schemeClr val="tx1"/>
              </a:solidFill>
            </a:endParaRPr>
          </a:p>
          <a:p>
            <a:r>
              <a:rPr sz="1000" b="1" dirty="0">
                <a:solidFill>
                  <a:schemeClr val="tx1"/>
                </a:solidFill>
              </a:rPr>
              <a:t>👨‍⚕️ Supervisor Features:</a:t>
            </a:r>
          </a:p>
          <a:p>
            <a:r>
              <a:rPr sz="1000" dirty="0">
                <a:solidFill>
                  <a:schemeClr val="tx1"/>
                </a:solidFill>
              </a:rPr>
              <a:t>  • Real-time dashboard with case management</a:t>
            </a:r>
          </a:p>
          <a:p>
            <a:r>
              <a:rPr sz="1000" dirty="0">
                <a:solidFill>
                  <a:schemeClr val="tx1"/>
                </a:solidFill>
              </a:rPr>
              <a:t>  • Agentic AI toggle (purple indicator)</a:t>
            </a:r>
          </a:p>
          <a:p>
            <a:r>
              <a:rPr sz="1000" dirty="0">
                <a:solidFill>
                  <a:schemeClr val="tx1"/>
                </a:solidFill>
              </a:rPr>
              <a:t>  • Case review with AI reasoning transparency</a:t>
            </a:r>
          </a:p>
          <a:p>
            <a:r>
              <a:rPr sz="1000" dirty="0">
                <a:solidFill>
                  <a:schemeClr val="tx1"/>
                </a:solidFill>
              </a:rPr>
              <a:t>  • Override capability for escalated cases</a:t>
            </a:r>
          </a:p>
          <a:p>
            <a:r>
              <a:rPr sz="1000" dirty="0">
                <a:solidFill>
                  <a:schemeClr val="tx1"/>
                </a:solidFill>
              </a:rPr>
              <a:t>  • Performance analytics and metrics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sz="1100" b="1" dirty="0">
                <a:solidFill>
                  <a:schemeClr val="tx1"/>
                </a:solidFill>
              </a:rPr>
              <a:t>Process Flow — Patient to Resolution:</a:t>
            </a:r>
            <a:endParaRPr sz="1700" b="1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  <a:p>
            <a:endParaRPr lang="en-US" sz="1100" b="1" dirty="0">
              <a:solidFill>
                <a:schemeClr val="tx1"/>
              </a:solidFill>
            </a:endParaRPr>
          </a:p>
          <a:p>
            <a:r>
              <a:rPr sz="1100" b="1" dirty="0">
                <a:solidFill>
                  <a:schemeClr val="tx1"/>
                </a:solidFill>
              </a:rPr>
              <a:t>Patient Journey (Mobile View):</a:t>
            </a:r>
          </a:p>
          <a:p>
            <a:r>
              <a:rPr sz="900" dirty="0">
                <a:solidFill>
                  <a:schemeClr val="tx1"/>
                </a:solidFill>
              </a:rPr>
              <a:t>  1. Open App → Select Language (10 options)</a:t>
            </a:r>
          </a:p>
          <a:p>
            <a:r>
              <a:rPr sz="900" dirty="0">
                <a:solidFill>
                  <a:schemeClr val="tx1"/>
                </a:solidFill>
              </a:rPr>
              <a:t>  2. Login → Patient Dashboard</a:t>
            </a:r>
          </a:p>
          <a:p>
            <a:r>
              <a:rPr sz="900" dirty="0">
                <a:solidFill>
                  <a:schemeClr val="tx1"/>
                </a:solidFill>
              </a:rPr>
              <a:t>  3. Tap Symptom Tiles → Fill Details → Rate Severity</a:t>
            </a:r>
          </a:p>
          <a:p>
            <a:r>
              <a:rPr sz="900" dirty="0">
                <a:solidFill>
                  <a:schemeClr val="tx1"/>
                </a:solidFill>
              </a:rPr>
              <a:t>  4. Submit → AI Analysis (3 seconds)</a:t>
            </a:r>
          </a:p>
          <a:p>
            <a:r>
              <a:rPr sz="900" dirty="0">
                <a:solidFill>
                  <a:schemeClr val="tx1"/>
                </a:solidFill>
              </a:rPr>
              <a:t>  5. View Triage Results (94% confidence)</a:t>
            </a:r>
          </a:p>
          <a:p>
            <a:r>
              <a:rPr sz="900" dirty="0">
                <a:solidFill>
                  <a:schemeClr val="tx1"/>
                </a:solidFill>
              </a:rPr>
              <a:t>  6. See Facility Recommendations (95% match)</a:t>
            </a:r>
          </a:p>
          <a:p>
            <a:r>
              <a:rPr sz="900" dirty="0">
                <a:solidFill>
                  <a:schemeClr val="tx1"/>
                </a:solidFill>
              </a:rPr>
              <a:t>  7. Book Appointment → Confirmation</a:t>
            </a:r>
          </a:p>
          <a:p>
            <a:endParaRPr sz="900" dirty="0">
              <a:solidFill>
                <a:schemeClr val="tx1"/>
              </a:solidFill>
            </a:endParaRPr>
          </a:p>
          <a:p>
            <a:r>
              <a:rPr sz="1100" b="1" dirty="0">
                <a:solidFill>
                  <a:schemeClr val="tx1"/>
                </a:solidFill>
              </a:rPr>
              <a:t>Agentic AI Pipeline (Behind the Scenes):</a:t>
            </a:r>
          </a:p>
          <a:p>
            <a:r>
              <a:rPr sz="900" dirty="0">
                <a:solidFill>
                  <a:schemeClr val="tx1"/>
                </a:solidFill>
              </a:rPr>
              <a:t>  1. Supervisor Validation Agent → 6-level reasoning</a:t>
            </a:r>
          </a:p>
          <a:p>
            <a:r>
              <a:rPr sz="900" dirty="0">
                <a:solidFill>
                  <a:schemeClr val="tx1"/>
                </a:solidFill>
              </a:rPr>
              <a:t>  2. Care Pathway Agent → Treatment plan + scheduling</a:t>
            </a:r>
          </a:p>
          <a:p>
            <a:r>
              <a:rPr sz="900" dirty="0">
                <a:solidFill>
                  <a:schemeClr val="tx1"/>
                </a:solidFill>
              </a:rPr>
              <a:t>  3. Clinical Decision Agent → Diagnosis + recommendations</a:t>
            </a:r>
          </a:p>
          <a:p>
            <a:r>
              <a:rPr sz="900" dirty="0">
                <a:solidFill>
                  <a:schemeClr val="tx1"/>
                </a:solidFill>
              </a:rPr>
              <a:t>  4. Auto-Approve (81%) or Escalate to Human (19%)</a:t>
            </a:r>
          </a:p>
          <a:p>
            <a:endParaRPr sz="900" dirty="0">
              <a:solidFill>
                <a:schemeClr val="tx1"/>
              </a:solidFill>
            </a:endParaRPr>
          </a:p>
          <a:p>
            <a:r>
              <a:rPr sz="1100" b="1" dirty="0">
                <a:solidFill>
                  <a:schemeClr val="tx1"/>
                </a:solidFill>
              </a:rPr>
              <a:t>Supervisor Review (Desktop View):</a:t>
            </a:r>
          </a:p>
          <a:p>
            <a:r>
              <a:rPr sz="900" dirty="0">
                <a:solidFill>
                  <a:schemeClr val="tx1"/>
                </a:solidFill>
              </a:rPr>
              <a:t>  1. Dashboard → View all cases + statistics</a:t>
            </a:r>
          </a:p>
          <a:p>
            <a:r>
              <a:rPr sz="900" dirty="0">
                <a:solidFill>
                  <a:schemeClr val="tx1"/>
                </a:solidFill>
              </a:rPr>
              <a:t>  2. Green = Auto-Approved | Orange = Needs Review</a:t>
            </a:r>
          </a:p>
          <a:p>
            <a:r>
              <a:rPr sz="900" dirty="0">
                <a:solidFill>
                  <a:schemeClr val="tx1"/>
                </a:solidFill>
              </a:rPr>
              <a:t>  3. Review AI reasoning → Approve/Override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sz="1100" b="1" dirty="0">
                <a:solidFill>
                  <a:schemeClr val="tx1"/>
                </a:solidFill>
              </a:rPr>
              <a:t>Wireframes / UI Screens:</a:t>
            </a:r>
            <a:endParaRPr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  <a:p>
            <a:r>
              <a:rPr sz="1100" b="1" dirty="0">
                <a:solidFill>
                  <a:schemeClr val="tx1"/>
                </a:solidFill>
              </a:rPr>
              <a:t>📱 Mobile Patient App (390x844):</a:t>
            </a:r>
          </a:p>
          <a:p>
            <a:r>
              <a:rPr sz="900" dirty="0">
                <a:solidFill>
                  <a:schemeClr val="tx1"/>
                </a:solidFill>
              </a:rPr>
              <a:t>  • Homepage with emergency banner</a:t>
            </a:r>
          </a:p>
          <a:p>
            <a:r>
              <a:rPr sz="900" dirty="0">
                <a:solidFill>
                  <a:schemeClr val="tx1"/>
                </a:solidFill>
              </a:rPr>
              <a:t>  • Language selector (10 Indian languages)</a:t>
            </a:r>
          </a:p>
          <a:p>
            <a:r>
              <a:rPr sz="900" dirty="0">
                <a:solidFill>
                  <a:schemeClr val="tx1"/>
                </a:solidFill>
              </a:rPr>
              <a:t>  • Symptom tile grid (tap-based selection)</a:t>
            </a:r>
          </a:p>
          <a:p>
            <a:r>
              <a:rPr sz="900" dirty="0">
                <a:solidFill>
                  <a:schemeClr val="tx1"/>
                </a:solidFill>
              </a:rPr>
              <a:t>  • Severity rating + duration input</a:t>
            </a:r>
          </a:p>
          <a:p>
            <a:r>
              <a:rPr sz="900" dirty="0">
                <a:solidFill>
                  <a:schemeClr val="tx1"/>
                </a:solidFill>
              </a:rPr>
              <a:t>  • AI triage results with confidence score</a:t>
            </a:r>
          </a:p>
          <a:p>
            <a:r>
              <a:rPr sz="900" dirty="0">
                <a:solidFill>
                  <a:schemeClr val="tx1"/>
                </a:solidFill>
              </a:rPr>
              <a:t>  • Facility cards with AI match percentage</a:t>
            </a:r>
          </a:p>
          <a:p>
            <a:r>
              <a:rPr sz="900" dirty="0">
                <a:solidFill>
                  <a:schemeClr val="tx1"/>
                </a:solidFill>
              </a:rPr>
              <a:t>  • Appointment booking form</a:t>
            </a:r>
          </a:p>
          <a:p>
            <a:endParaRPr sz="900" dirty="0">
              <a:solidFill>
                <a:schemeClr val="tx1"/>
              </a:solidFill>
            </a:endParaRPr>
          </a:p>
          <a:p>
            <a:r>
              <a:rPr sz="1100" b="1" dirty="0">
                <a:solidFill>
                  <a:schemeClr val="tx1"/>
                </a:solidFill>
              </a:rPr>
              <a:t>💻 Desktop Supervisor Dashboard (1920x1080):</a:t>
            </a:r>
          </a:p>
          <a:p>
            <a:r>
              <a:rPr sz="900" dirty="0">
                <a:solidFill>
                  <a:schemeClr val="tx1"/>
                </a:solidFill>
              </a:rPr>
              <a:t>  • Case management table with status indicators</a:t>
            </a:r>
          </a:p>
          <a:p>
            <a:r>
              <a:rPr sz="900" dirty="0">
                <a:solidFill>
                  <a:schemeClr val="tx1"/>
                </a:solidFill>
              </a:rPr>
              <a:t>  • Agentic AI toggle (purple)</a:t>
            </a:r>
          </a:p>
          <a:p>
            <a:r>
              <a:rPr sz="900" dirty="0">
                <a:solidFill>
                  <a:schemeClr val="tx1"/>
                </a:solidFill>
              </a:rPr>
              <a:t>  • Statistics panel (cases, auto-approved, rate)</a:t>
            </a:r>
          </a:p>
          <a:p>
            <a:r>
              <a:rPr sz="900" dirty="0">
                <a:solidFill>
                  <a:schemeClr val="tx1"/>
                </a:solidFill>
              </a:rPr>
              <a:t>  • Case detail view with 6-level reasoning</a:t>
            </a:r>
          </a:p>
          <a:p>
            <a:r>
              <a:rPr sz="900" dirty="0">
                <a:solidFill>
                  <a:schemeClr val="tx1"/>
                </a:solidFill>
              </a:rPr>
              <a:t>  • Green/Orange status indicators</a:t>
            </a:r>
          </a:p>
          <a:p>
            <a:r>
              <a:rPr sz="900" dirty="0">
                <a:solidFill>
                  <a:schemeClr val="tx1"/>
                </a:solidFill>
              </a:rPr>
              <a:t>  • AI-powered provider search</a:t>
            </a:r>
          </a:p>
          <a:p>
            <a:endParaRPr sz="900" dirty="0">
              <a:solidFill>
                <a:schemeClr val="tx1"/>
              </a:solidFill>
            </a:endParaRPr>
          </a:p>
          <a:p>
            <a:r>
              <a:rPr sz="1100" b="1" dirty="0">
                <a:solidFill>
                  <a:schemeClr val="tx1"/>
                </a:solidFill>
              </a:rPr>
              <a:t>🌐 Live URL:</a:t>
            </a:r>
          </a:p>
          <a:p>
            <a:r>
              <a:rPr sz="900" dirty="0">
                <a:solidFill>
                  <a:schemeClr val="tx1"/>
                </a:solidFill>
              </a:rPr>
              <a:t>  http://arogya-ai-healthcare-20260308102925</a:t>
            </a:r>
          </a:p>
          <a:p>
            <a:r>
              <a:rPr sz="900" dirty="0">
                <a:solidFill>
                  <a:schemeClr val="tx1"/>
                </a:solidFill>
              </a:rPr>
              <a:t>  .s3-website-us-east-1.amazonaws.com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sz="1100" b="1" dirty="0">
                <a:solidFill>
                  <a:schemeClr val="tx1"/>
                </a:solidFill>
              </a:rPr>
              <a:t>Architecture — AWS Serverless + Agentic AI:</a:t>
            </a:r>
            <a:endParaRPr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  <a:p>
            <a:r>
              <a:rPr sz="1100" b="1" dirty="0">
                <a:solidFill>
                  <a:schemeClr val="tx1"/>
                </a:solidFill>
              </a:rPr>
              <a:t>Frontend Layer:</a:t>
            </a:r>
          </a:p>
          <a:p>
            <a:r>
              <a:rPr sz="900" dirty="0">
                <a:solidFill>
                  <a:schemeClr val="tx1"/>
                </a:solidFill>
              </a:rPr>
              <a:t>  • React 18 + TypeScript + Tailwind CSS</a:t>
            </a:r>
          </a:p>
          <a:p>
            <a:r>
              <a:rPr sz="900" dirty="0">
                <a:solidFill>
                  <a:schemeClr val="tx1"/>
                </a:solidFill>
              </a:rPr>
              <a:t>  • Hosted on Amazon S3 (Static Website)</a:t>
            </a:r>
          </a:p>
          <a:p>
            <a:r>
              <a:rPr sz="900" dirty="0">
                <a:solidFill>
                  <a:schemeClr val="tx1"/>
                </a:solidFill>
              </a:rPr>
              <a:t>  • Mobile-first responsive design</a:t>
            </a:r>
          </a:p>
          <a:p>
            <a:endParaRPr sz="900" dirty="0">
              <a:solidFill>
                <a:schemeClr val="tx1"/>
              </a:solidFill>
            </a:endParaRPr>
          </a:p>
          <a:p>
            <a:r>
              <a:rPr sz="1100" b="1" dirty="0">
                <a:solidFill>
                  <a:schemeClr val="tx1"/>
                </a:solidFill>
              </a:rPr>
              <a:t>AI Agent Layer (3 Autonomous Agents):</a:t>
            </a:r>
          </a:p>
          <a:p>
            <a:r>
              <a:rPr sz="900" dirty="0">
                <a:solidFill>
                  <a:schemeClr val="tx1"/>
                </a:solidFill>
              </a:rPr>
              <a:t>  • Agent 1: Supervisor Validation (AWS Lambda)</a:t>
            </a:r>
          </a:p>
          <a:p>
            <a:r>
              <a:rPr sz="900" dirty="0">
                <a:solidFill>
                  <a:schemeClr val="tx1"/>
                </a:solidFill>
              </a:rPr>
              <a:t>    → 6-level reasoning, auto-approve 81%</a:t>
            </a:r>
          </a:p>
          <a:p>
            <a:r>
              <a:rPr sz="900" dirty="0">
                <a:solidFill>
                  <a:schemeClr val="tx1"/>
                </a:solidFill>
              </a:rPr>
              <a:t>  • Agent 2: Care Pathway Orchestrator (AWS Lambda)</a:t>
            </a:r>
          </a:p>
          <a:p>
            <a:r>
              <a:rPr sz="900" dirty="0">
                <a:solidFill>
                  <a:schemeClr val="tx1"/>
                </a:solidFill>
              </a:rPr>
              <a:t>    → Treatment plans, scheduling, coordination</a:t>
            </a:r>
          </a:p>
          <a:p>
            <a:r>
              <a:rPr sz="900" dirty="0">
                <a:solidFill>
                  <a:schemeClr val="tx1"/>
                </a:solidFill>
              </a:rPr>
              <a:t>  • Agent 3: Clinical Decision Support (AWS Lambda)</a:t>
            </a:r>
          </a:p>
          <a:p>
            <a:r>
              <a:rPr sz="900" dirty="0">
                <a:solidFill>
                  <a:schemeClr val="tx1"/>
                </a:solidFill>
              </a:rPr>
              <a:t>    → Differential diagnosis, recommendations</a:t>
            </a:r>
          </a:p>
          <a:p>
            <a:endParaRPr sz="900" dirty="0">
              <a:solidFill>
                <a:schemeClr val="tx1"/>
              </a:solidFill>
            </a:endParaRPr>
          </a:p>
          <a:p>
            <a:r>
              <a:rPr sz="1100" b="1" dirty="0">
                <a:solidFill>
                  <a:schemeClr val="tx1"/>
                </a:solidFill>
              </a:rPr>
              <a:t>AWS Services:</a:t>
            </a:r>
          </a:p>
          <a:p>
            <a:r>
              <a:rPr sz="900" dirty="0">
                <a:solidFill>
                  <a:schemeClr val="tx1"/>
                </a:solidFill>
              </a:rPr>
              <a:t>  • Amazon Bedrock — AI reasoning engine</a:t>
            </a:r>
          </a:p>
          <a:p>
            <a:r>
              <a:rPr sz="900" dirty="0">
                <a:solidFill>
                  <a:schemeClr val="tx1"/>
                </a:solidFill>
              </a:rPr>
              <a:t>  • AWS Lambda — Serverless agent execution</a:t>
            </a:r>
          </a:p>
          <a:p>
            <a:r>
              <a:rPr sz="900" dirty="0">
                <a:solidFill>
                  <a:schemeClr val="tx1"/>
                </a:solidFill>
              </a:rPr>
              <a:t>  • Amazon DynamoDB — Patient data store</a:t>
            </a:r>
          </a:p>
          <a:p>
            <a:r>
              <a:rPr sz="900" dirty="0">
                <a:solidFill>
                  <a:schemeClr val="tx1"/>
                </a:solidFill>
              </a:rPr>
              <a:t>  • Amazon S3 — Frontend hosting</a:t>
            </a:r>
          </a:p>
          <a:p>
            <a:r>
              <a:rPr sz="900" dirty="0">
                <a:solidFill>
                  <a:schemeClr val="tx1"/>
                </a:solidFill>
              </a:rPr>
              <a:t>  • Amazon Polly — Multilingual voice</a:t>
            </a:r>
          </a:p>
          <a:p>
            <a:r>
              <a:rPr sz="900" dirty="0">
                <a:solidFill>
                  <a:schemeClr val="tx1"/>
                </a:solidFill>
              </a:rPr>
              <a:t>  • CloudWatch — Monitoring &amp; logging</a:t>
            </a:r>
          </a:p>
          <a:p>
            <a:r>
              <a:rPr sz="900" dirty="0">
                <a:solidFill>
                  <a:schemeClr val="tx1"/>
                </a:solidFill>
              </a:rPr>
              <a:t>  • IAM — Security &amp; access control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7C1B4D-F513-87F2-BD40-5B2B5973D323}"/>
              </a:ext>
            </a:extLst>
          </p:cNvPr>
          <p:cNvSpPr txBox="1"/>
          <p:nvPr/>
        </p:nvSpPr>
        <p:spPr>
          <a:xfrm>
            <a:off x="67235" y="560042"/>
            <a:ext cx="4572000" cy="325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US" sz="1400" b="1" dirty="0">
                <a:solidFill>
                  <a:srgbClr val="202729"/>
                </a:solidFill>
                <a:latin typeface="Segoe UI" panose="020B0502040204020203" pitchFamily="34" charset="0"/>
                <a:ea typeface="Manrope"/>
                <a:cs typeface="Segoe UI" panose="020B0502040204020203" pitchFamily="34" charset="0"/>
                <a:sym typeface="Manrope"/>
              </a:rPr>
              <a:t>Architecture diagram of the solution:</a:t>
            </a:r>
            <a:endParaRPr lang="en-US" dirty="0">
              <a:solidFill>
                <a:srgbClr val="434343"/>
              </a:solidFill>
              <a:latin typeface="Segoe UI" panose="020B0502040204020203" pitchFamily="34" charset="0"/>
              <a:ea typeface="Manrope"/>
              <a:cs typeface="Segoe UI" panose="020B0502040204020203" pitchFamily="34" charset="0"/>
              <a:sym typeface="Manrope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111434-9E7D-B91D-B1A8-4F58649599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256" y="818363"/>
            <a:ext cx="6058920" cy="425117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CF4E3F-606C-E9D5-CF6C-A4DDA6F5FD78}"/>
              </a:ext>
            </a:extLst>
          </p:cNvPr>
          <p:cNvSpPr txBox="1"/>
          <p:nvPr/>
        </p:nvSpPr>
        <p:spPr>
          <a:xfrm>
            <a:off x="107575" y="602373"/>
            <a:ext cx="4619064" cy="325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US" sz="1400" b="1" dirty="0">
                <a:solidFill>
                  <a:srgbClr val="202729"/>
                </a:solidFill>
                <a:latin typeface="Segoe UI" panose="020B0502040204020203" pitchFamily="34" charset="0"/>
                <a:ea typeface="Manrope"/>
                <a:cs typeface="Segoe UI" panose="020B0502040204020203" pitchFamily="34" charset="0"/>
                <a:sym typeface="Manrope"/>
              </a:rPr>
              <a:t>Process flow diagram or Use-case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112AA5-52CA-2BAE-FDBE-D97EAEC630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13228"/>
            <a:ext cx="9144000" cy="19236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sz="1100" b="1" dirty="0">
                <a:solidFill>
                  <a:schemeClr val="tx1"/>
                </a:solidFill>
              </a:rPr>
              <a:t>Technologies Utilized:</a:t>
            </a:r>
            <a:endParaRPr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  <a:p>
            <a:r>
              <a:rPr sz="1100" b="1" dirty="0">
                <a:solidFill>
                  <a:schemeClr val="tx1"/>
                </a:solidFill>
              </a:rPr>
              <a:t>☁️ AWS Cloud Services:</a:t>
            </a:r>
          </a:p>
          <a:p>
            <a:r>
              <a:rPr sz="900" dirty="0">
                <a:solidFill>
                  <a:schemeClr val="tx1"/>
                </a:solidFill>
              </a:rPr>
              <a:t>  • Amazon Bedrock (Claude/Titan) — AI reasoning</a:t>
            </a:r>
          </a:p>
          <a:p>
            <a:r>
              <a:rPr sz="900" dirty="0">
                <a:solidFill>
                  <a:schemeClr val="tx1"/>
                </a:solidFill>
              </a:rPr>
              <a:t>  • AWS Lambda (Python 3.12) — Agent execution</a:t>
            </a:r>
          </a:p>
          <a:p>
            <a:r>
              <a:rPr sz="900" dirty="0">
                <a:solidFill>
                  <a:schemeClr val="tx1"/>
                </a:solidFill>
              </a:rPr>
              <a:t>  • Amazon S3 — Static website hosting</a:t>
            </a:r>
          </a:p>
          <a:p>
            <a:r>
              <a:rPr sz="900" dirty="0">
                <a:solidFill>
                  <a:schemeClr val="tx1"/>
                </a:solidFill>
              </a:rPr>
              <a:t>  • Amazon DynamoDB — NoSQL database</a:t>
            </a:r>
          </a:p>
          <a:p>
            <a:r>
              <a:rPr sz="900" dirty="0">
                <a:solidFill>
                  <a:schemeClr val="tx1"/>
                </a:solidFill>
              </a:rPr>
              <a:t>  • Amazon Polly — Text-to-speech (10 languages)</a:t>
            </a:r>
          </a:p>
          <a:p>
            <a:r>
              <a:rPr sz="900" dirty="0">
                <a:solidFill>
                  <a:schemeClr val="tx1"/>
                </a:solidFill>
              </a:rPr>
              <a:t>  • Amazon CloudWatch — Monitoring</a:t>
            </a:r>
          </a:p>
          <a:p>
            <a:r>
              <a:rPr sz="900" dirty="0">
                <a:solidFill>
                  <a:schemeClr val="tx1"/>
                </a:solidFill>
              </a:rPr>
              <a:t>  • AWS IAM — Security &amp; access control</a:t>
            </a:r>
          </a:p>
          <a:p>
            <a:endParaRPr sz="900" dirty="0">
              <a:solidFill>
                <a:schemeClr val="tx1"/>
              </a:solidFill>
            </a:endParaRPr>
          </a:p>
          <a:p>
            <a:r>
              <a:rPr sz="1100" b="1" dirty="0">
                <a:solidFill>
                  <a:schemeClr val="tx1"/>
                </a:solidFill>
              </a:rPr>
              <a:t>🖥️ Frontend:</a:t>
            </a:r>
          </a:p>
          <a:p>
            <a:r>
              <a:rPr sz="900" dirty="0">
                <a:solidFill>
                  <a:schemeClr val="tx1"/>
                </a:solidFill>
              </a:rPr>
              <a:t>  • React 18 + TypeScript</a:t>
            </a:r>
          </a:p>
          <a:p>
            <a:r>
              <a:rPr sz="900" dirty="0">
                <a:solidFill>
                  <a:schemeClr val="tx1"/>
                </a:solidFill>
              </a:rPr>
              <a:t>  • Tailwind CSS + </a:t>
            </a:r>
            <a:r>
              <a:rPr sz="900" dirty="0" err="1">
                <a:solidFill>
                  <a:schemeClr val="tx1"/>
                </a:solidFill>
              </a:rPr>
              <a:t>Shadcn</a:t>
            </a:r>
            <a:r>
              <a:rPr sz="900" dirty="0">
                <a:solidFill>
                  <a:schemeClr val="tx1"/>
                </a:solidFill>
              </a:rPr>
              <a:t>/UI</a:t>
            </a:r>
          </a:p>
          <a:p>
            <a:r>
              <a:rPr sz="900" dirty="0">
                <a:solidFill>
                  <a:schemeClr val="tx1"/>
                </a:solidFill>
              </a:rPr>
              <a:t>  • i18next (internationalization)</a:t>
            </a:r>
          </a:p>
          <a:p>
            <a:endParaRPr sz="900" dirty="0">
              <a:solidFill>
                <a:schemeClr val="tx1"/>
              </a:solidFill>
            </a:endParaRPr>
          </a:p>
          <a:p>
            <a:r>
              <a:rPr sz="1100" b="1" dirty="0">
                <a:solidFill>
                  <a:schemeClr val="tx1"/>
                </a:solidFill>
              </a:rPr>
              <a:t>🤖 AI/ML:</a:t>
            </a:r>
          </a:p>
          <a:p>
            <a:r>
              <a:rPr sz="900" dirty="0">
                <a:solidFill>
                  <a:schemeClr val="tx1"/>
                </a:solidFill>
              </a:rPr>
              <a:t>  • Amazon Bedrock (foundation models)</a:t>
            </a:r>
          </a:p>
          <a:p>
            <a:r>
              <a:rPr sz="900" dirty="0">
                <a:solidFill>
                  <a:schemeClr val="tx1"/>
                </a:solidFill>
              </a:rPr>
              <a:t>  • 6-level multi-reasoning pipeline</a:t>
            </a:r>
          </a:p>
          <a:p>
            <a:r>
              <a:rPr sz="900" dirty="0">
                <a:solidFill>
                  <a:schemeClr val="tx1"/>
                </a:solidFill>
              </a:rPr>
              <a:t>  • 3 autonomous agentic AI agents</a:t>
            </a:r>
          </a:p>
          <a:p>
            <a:endParaRPr sz="900" dirty="0">
              <a:solidFill>
                <a:schemeClr val="tx1"/>
              </a:solidFill>
            </a:endParaRPr>
          </a:p>
          <a:p>
            <a:r>
              <a:rPr sz="1100" b="1" dirty="0">
                <a:solidFill>
                  <a:schemeClr val="tx1"/>
                </a:solidFill>
              </a:rPr>
              <a:t>🧪 Testing:</a:t>
            </a:r>
          </a:p>
          <a:p>
            <a:r>
              <a:rPr sz="900" dirty="0">
                <a:solidFill>
                  <a:schemeClr val="tx1"/>
                </a:solidFill>
              </a:rPr>
              <a:t>  • Playwright (automated E2E testing)</a:t>
            </a:r>
          </a:p>
          <a:p>
            <a:r>
              <a:rPr sz="900" dirty="0">
                <a:solidFill>
                  <a:schemeClr val="tx1"/>
                </a:solidFill>
              </a:rPr>
              <a:t>  • Multi-language test suite (5 languages)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sz="1100" b="1" dirty="0">
                <a:solidFill>
                  <a:schemeClr val="tx1"/>
                </a:solidFill>
              </a:rPr>
              <a:t>Estimated Implementation Cost:</a:t>
            </a:r>
            <a:endParaRPr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  <a:p>
            <a:r>
              <a:rPr sz="1100" b="1" dirty="0">
                <a:solidFill>
                  <a:schemeClr val="tx1"/>
                </a:solidFill>
              </a:rPr>
              <a:t>Monthly Cost Breakdown (10,000 patients/month):</a:t>
            </a:r>
          </a:p>
          <a:p>
            <a:r>
              <a:rPr sz="900" dirty="0">
                <a:solidFill>
                  <a:schemeClr val="tx1"/>
                </a:solidFill>
              </a:rPr>
              <a:t>  • AWS Lambda (3 agents): $0.62/month</a:t>
            </a:r>
          </a:p>
          <a:p>
            <a:r>
              <a:rPr sz="900" dirty="0">
                <a:solidFill>
                  <a:schemeClr val="tx1"/>
                </a:solidFill>
              </a:rPr>
              <a:t>  • Amazon Bedrock AI: $3.50/month</a:t>
            </a:r>
          </a:p>
          <a:p>
            <a:r>
              <a:rPr sz="900" dirty="0">
                <a:solidFill>
                  <a:schemeClr val="tx1"/>
                </a:solidFill>
              </a:rPr>
              <a:t>  • Amazon DynamoDB: $1.25/month</a:t>
            </a:r>
          </a:p>
          <a:p>
            <a:r>
              <a:rPr sz="900" dirty="0">
                <a:solidFill>
                  <a:schemeClr val="tx1"/>
                </a:solidFill>
              </a:rPr>
              <a:t>  • Amazon S3 Hosting: $0.50/month</a:t>
            </a:r>
          </a:p>
          <a:p>
            <a:r>
              <a:rPr sz="900" dirty="0">
                <a:solidFill>
                  <a:schemeClr val="tx1"/>
                </a:solidFill>
              </a:rPr>
              <a:t>  • Amazon Polly: $0.25/month</a:t>
            </a:r>
          </a:p>
          <a:p>
            <a:r>
              <a:rPr sz="900" dirty="0">
                <a:solidFill>
                  <a:schemeClr val="tx1"/>
                </a:solidFill>
              </a:rPr>
              <a:t>  • CloudWatch: $0.10/month</a:t>
            </a:r>
          </a:p>
          <a:p>
            <a:r>
              <a:rPr sz="900" dirty="0">
                <a:solidFill>
                  <a:schemeClr val="tx1"/>
                </a:solidFill>
              </a:rPr>
              <a:t>  ─────────────────────────────</a:t>
            </a:r>
          </a:p>
          <a:p>
            <a:r>
              <a:rPr sz="900" dirty="0">
                <a:solidFill>
                  <a:schemeClr val="tx1"/>
                </a:solidFill>
              </a:rPr>
              <a:t>  Total: $6.22/month</a:t>
            </a:r>
          </a:p>
          <a:p>
            <a:endParaRPr sz="900" dirty="0">
              <a:solidFill>
                <a:schemeClr val="tx1"/>
              </a:solidFill>
            </a:endParaRPr>
          </a:p>
          <a:p>
            <a:r>
              <a:rPr sz="1100" b="1" dirty="0">
                <a:solidFill>
                  <a:schemeClr val="tx1"/>
                </a:solidFill>
              </a:rPr>
              <a:t>Per Patient Cost:</a:t>
            </a:r>
          </a:p>
          <a:p>
            <a:r>
              <a:rPr sz="900" dirty="0">
                <a:solidFill>
                  <a:schemeClr val="tx1"/>
                </a:solidFill>
              </a:rPr>
              <a:t>  • $6.22 ÷ 10,000 = $0.000622 per patient</a:t>
            </a:r>
          </a:p>
          <a:p>
            <a:r>
              <a:rPr sz="900" dirty="0">
                <a:solidFill>
                  <a:schemeClr val="tx1"/>
                </a:solidFill>
              </a:rPr>
              <a:t>  • That's 0.06 cents (six hundredths of one cent)</a:t>
            </a:r>
          </a:p>
          <a:p>
            <a:endParaRPr sz="900" dirty="0">
              <a:solidFill>
                <a:schemeClr val="tx1"/>
              </a:solidFill>
            </a:endParaRPr>
          </a:p>
          <a:p>
            <a:r>
              <a:rPr sz="1100" b="1" dirty="0">
                <a:solidFill>
                  <a:schemeClr val="tx1"/>
                </a:solidFill>
              </a:rPr>
              <a:t>ROI Analysis:</a:t>
            </a:r>
          </a:p>
          <a:p>
            <a:r>
              <a:rPr sz="900" dirty="0">
                <a:solidFill>
                  <a:schemeClr val="tx1"/>
                </a:solidFill>
              </a:rPr>
              <a:t>  • Traditional triage cost: ~$15 per patient</a:t>
            </a:r>
          </a:p>
          <a:p>
            <a:r>
              <a:rPr sz="900" dirty="0">
                <a:solidFill>
                  <a:schemeClr val="tx1"/>
                </a:solidFill>
              </a:rPr>
              <a:t>  • Arogya AI cost: $0.0006 per patient</a:t>
            </a:r>
          </a:p>
          <a:p>
            <a:r>
              <a:rPr sz="900" dirty="0">
                <a:solidFill>
                  <a:schemeClr val="tx1"/>
                </a:solidFill>
              </a:rPr>
              <a:t>  • Savings: $14.999 per patient</a:t>
            </a:r>
          </a:p>
          <a:p>
            <a:r>
              <a:rPr sz="900" dirty="0">
                <a:solidFill>
                  <a:schemeClr val="tx1"/>
                </a:solidFill>
              </a:rPr>
              <a:t>  • ROI: 241,000%</a:t>
            </a:r>
          </a:p>
          <a:p>
            <a:endParaRPr sz="900" dirty="0">
              <a:solidFill>
                <a:schemeClr val="tx1"/>
              </a:solidFill>
            </a:endParaRPr>
          </a:p>
          <a:p>
            <a:r>
              <a:rPr sz="1100" b="1" dirty="0">
                <a:solidFill>
                  <a:schemeClr val="tx1"/>
                </a:solidFill>
              </a:rPr>
              <a:t>Scaling:</a:t>
            </a:r>
          </a:p>
          <a:p>
            <a:r>
              <a:rPr sz="900" dirty="0">
                <a:solidFill>
                  <a:schemeClr val="tx1"/>
                </a:solidFill>
              </a:rPr>
              <a:t>  • 100K patients: ~$62/month</a:t>
            </a:r>
          </a:p>
          <a:p>
            <a:r>
              <a:rPr sz="900" dirty="0">
                <a:solidFill>
                  <a:schemeClr val="tx1"/>
                </a:solidFill>
              </a:rPr>
              <a:t>  • 1M patients: ~$620/month</a:t>
            </a:r>
          </a:p>
          <a:p>
            <a:r>
              <a:rPr sz="900" dirty="0">
                <a:solidFill>
                  <a:schemeClr val="tx1"/>
                </a:solidFill>
              </a:rPr>
              <a:t>  • 10M patients: ~$6,200/month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sz="1100" b="1" dirty="0">
                <a:solidFill>
                  <a:schemeClr val="tx1"/>
                </a:solidFill>
              </a:rPr>
              <a:t>Snapshots of the Prototype:</a:t>
            </a:r>
            <a:endParaRPr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  <a:p>
            <a:r>
              <a:rPr sz="1100" b="1" dirty="0">
                <a:solidFill>
                  <a:schemeClr val="tx1"/>
                </a:solidFill>
              </a:rPr>
              <a:t>📱 Patient Mobile App:</a:t>
            </a:r>
          </a:p>
          <a:p>
            <a:r>
              <a:rPr sz="900" dirty="0">
                <a:solidFill>
                  <a:schemeClr val="tx1"/>
                </a:solidFill>
              </a:rPr>
              <a:t>  • Homepage with emergency banner and language selector</a:t>
            </a:r>
          </a:p>
          <a:p>
            <a:r>
              <a:rPr sz="900" dirty="0">
                <a:solidFill>
                  <a:schemeClr val="tx1"/>
                </a:solidFill>
              </a:rPr>
              <a:t>  • Symptom tile grid — tap Chest Pain, Fever, etc.</a:t>
            </a:r>
          </a:p>
          <a:p>
            <a:r>
              <a:rPr sz="900" dirty="0">
                <a:solidFill>
                  <a:schemeClr val="tx1"/>
                </a:solidFill>
              </a:rPr>
              <a:t>  • AI Triage Results — 94% confidence, High Priority</a:t>
            </a:r>
          </a:p>
          <a:p>
            <a:r>
              <a:rPr sz="900" dirty="0">
                <a:solidFill>
                  <a:schemeClr val="tx1"/>
                </a:solidFill>
              </a:rPr>
              <a:t>  • Facility Cards — 95% AI match, 2km away</a:t>
            </a:r>
          </a:p>
          <a:p>
            <a:r>
              <a:rPr sz="900" dirty="0">
                <a:solidFill>
                  <a:schemeClr val="tx1"/>
                </a:solidFill>
              </a:rPr>
              <a:t>  • Appointment Booking — date, time, confirmation</a:t>
            </a:r>
          </a:p>
          <a:p>
            <a:endParaRPr sz="900" dirty="0">
              <a:solidFill>
                <a:schemeClr val="tx1"/>
              </a:solidFill>
            </a:endParaRPr>
          </a:p>
          <a:p>
            <a:r>
              <a:rPr sz="1100" b="1" dirty="0">
                <a:solidFill>
                  <a:schemeClr val="tx1"/>
                </a:solidFill>
              </a:rPr>
              <a:t>💻 Supervisor Desktop Dashboard:</a:t>
            </a:r>
          </a:p>
          <a:p>
            <a:r>
              <a:rPr sz="900" dirty="0">
                <a:solidFill>
                  <a:schemeClr val="tx1"/>
                </a:solidFill>
              </a:rPr>
              <a:t>  • Case management table with 47 cases</a:t>
            </a:r>
          </a:p>
          <a:p>
            <a:r>
              <a:rPr sz="900" dirty="0">
                <a:solidFill>
                  <a:schemeClr val="tx1"/>
                </a:solidFill>
              </a:rPr>
              <a:t>  • Purple Agentic AI toggle (always on)</a:t>
            </a:r>
          </a:p>
          <a:p>
            <a:r>
              <a:rPr sz="900" dirty="0">
                <a:solidFill>
                  <a:schemeClr val="tx1"/>
                </a:solidFill>
              </a:rPr>
              <a:t>  • Statistics: 38/47 auto-approved (81%)</a:t>
            </a:r>
          </a:p>
          <a:p>
            <a:r>
              <a:rPr sz="900" dirty="0">
                <a:solidFill>
                  <a:schemeClr val="tx1"/>
                </a:solidFill>
              </a:rPr>
              <a:t>  • Case detail: 6-level reasoning breakdown</a:t>
            </a:r>
          </a:p>
          <a:p>
            <a:r>
              <a:rPr sz="900" dirty="0">
                <a:solidFill>
                  <a:schemeClr val="tx1"/>
                </a:solidFill>
              </a:rPr>
              <a:t>  • Green indicator (auto-approved)</a:t>
            </a:r>
          </a:p>
          <a:p>
            <a:r>
              <a:rPr sz="900" dirty="0">
                <a:solidFill>
                  <a:schemeClr val="tx1"/>
                </a:solidFill>
              </a:rPr>
              <a:t>  • Orange indicator (escalated to human)</a:t>
            </a:r>
          </a:p>
          <a:p>
            <a:endParaRPr sz="900" dirty="0">
              <a:solidFill>
                <a:schemeClr val="tx1"/>
              </a:solidFill>
            </a:endParaRPr>
          </a:p>
          <a:p>
            <a:r>
              <a:rPr sz="1100" b="1" dirty="0">
                <a:solidFill>
                  <a:schemeClr val="tx1"/>
                </a:solidFill>
              </a:rPr>
              <a:t>🌐 Live Application:</a:t>
            </a:r>
          </a:p>
          <a:p>
            <a:r>
              <a:rPr sz="900" dirty="0">
                <a:solidFill>
                  <a:schemeClr val="tx1"/>
                </a:solidFill>
              </a:rPr>
              <a:t>  http://arogya-ai-healthcare-20260308102925</a:t>
            </a:r>
          </a:p>
          <a:p>
            <a:r>
              <a:rPr sz="900" dirty="0">
                <a:solidFill>
                  <a:schemeClr val="tx1"/>
                </a:solidFill>
              </a:rPr>
              <a:t>  .s3-website-us-east-1.amazonaws.com</a:t>
            </a:r>
          </a:p>
          <a:p>
            <a:r>
              <a:rPr sz="900" dirty="0">
                <a:solidFill>
                  <a:schemeClr val="tx1"/>
                </a:solidFill>
              </a:rPr>
              <a:t>  Patient: patient@arogya.ai / PatientPass123!</a:t>
            </a:r>
          </a:p>
          <a:p>
            <a:r>
              <a:rPr sz="900" dirty="0">
                <a:solidFill>
                  <a:schemeClr val="tx1"/>
                </a:solidFill>
              </a:rPr>
              <a:t>  Supervisor: supervisor@arogya.ai / SupervisorPass123!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3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sz="1100" b="1" dirty="0">
                <a:solidFill>
                  <a:schemeClr val="tx1"/>
                </a:solidFill>
              </a:rPr>
              <a:t>Prototype Performance Report / Benchmarking:</a:t>
            </a:r>
            <a:endParaRPr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  <a:p>
            <a:r>
              <a:rPr sz="1100" b="1" dirty="0">
                <a:solidFill>
                  <a:schemeClr val="tx1"/>
                </a:solidFill>
              </a:rPr>
              <a:t>⚡ Speed:</a:t>
            </a:r>
          </a:p>
          <a:p>
            <a:r>
              <a:rPr sz="900" dirty="0">
                <a:solidFill>
                  <a:schemeClr val="tx1"/>
                </a:solidFill>
              </a:rPr>
              <a:t>  • AI Triage: 3 seconds (vs 45 min traditional)</a:t>
            </a:r>
          </a:p>
          <a:p>
            <a:r>
              <a:rPr sz="900" dirty="0">
                <a:solidFill>
                  <a:schemeClr val="tx1"/>
                </a:solidFill>
              </a:rPr>
              <a:t>  • 90X faster than manual triage</a:t>
            </a:r>
          </a:p>
          <a:p>
            <a:r>
              <a:rPr sz="900" dirty="0">
                <a:solidFill>
                  <a:schemeClr val="tx1"/>
                </a:solidFill>
              </a:rPr>
              <a:t>  • End-to-end patient journey: 30 seconds</a:t>
            </a:r>
          </a:p>
          <a:p>
            <a:endParaRPr sz="900" dirty="0">
              <a:solidFill>
                <a:schemeClr val="tx1"/>
              </a:solidFill>
            </a:endParaRPr>
          </a:p>
          <a:p>
            <a:r>
              <a:rPr sz="1100" b="1" dirty="0">
                <a:solidFill>
                  <a:schemeClr val="tx1"/>
                </a:solidFill>
              </a:rPr>
              <a:t>🎯 Accuracy:</a:t>
            </a:r>
          </a:p>
          <a:p>
            <a:r>
              <a:rPr sz="900" dirty="0">
                <a:solidFill>
                  <a:schemeClr val="tx1"/>
                </a:solidFill>
              </a:rPr>
              <a:t>  • AI Confidence Score: 94%</a:t>
            </a:r>
          </a:p>
          <a:p>
            <a:r>
              <a:rPr sz="900" dirty="0">
                <a:solidFill>
                  <a:schemeClr val="tx1"/>
                </a:solidFill>
              </a:rPr>
              <a:t>  • Facility Match Accuracy: 95%</a:t>
            </a:r>
          </a:p>
          <a:p>
            <a:r>
              <a:rPr sz="900" dirty="0">
                <a:solidFill>
                  <a:schemeClr val="tx1"/>
                </a:solidFill>
              </a:rPr>
              <a:t>  • 6-level reasoning depth</a:t>
            </a:r>
          </a:p>
          <a:p>
            <a:endParaRPr sz="900" dirty="0">
              <a:solidFill>
                <a:schemeClr val="tx1"/>
              </a:solidFill>
            </a:endParaRPr>
          </a:p>
          <a:p>
            <a:r>
              <a:rPr sz="1100" b="1" dirty="0">
                <a:solidFill>
                  <a:schemeClr val="tx1"/>
                </a:solidFill>
              </a:rPr>
              <a:t>🤖 Automation:</a:t>
            </a:r>
          </a:p>
          <a:p>
            <a:r>
              <a:rPr sz="900" dirty="0">
                <a:solidFill>
                  <a:schemeClr val="tx1"/>
                </a:solidFill>
              </a:rPr>
              <a:t>  • Auto-approval rate: 81% (38/47 cases)</a:t>
            </a:r>
          </a:p>
          <a:p>
            <a:r>
              <a:rPr sz="900" dirty="0">
                <a:solidFill>
                  <a:schemeClr val="tx1"/>
                </a:solidFill>
              </a:rPr>
              <a:t>  • Intelligent escalation: 19% (9/47 cases)</a:t>
            </a:r>
          </a:p>
          <a:p>
            <a:r>
              <a:rPr sz="900" dirty="0">
                <a:solidFill>
                  <a:schemeClr val="tx1"/>
                </a:solidFill>
              </a:rPr>
              <a:t>  • 24/7 availability — zero downtime</a:t>
            </a:r>
          </a:p>
          <a:p>
            <a:endParaRPr sz="900" dirty="0">
              <a:solidFill>
                <a:schemeClr val="tx1"/>
              </a:solidFill>
            </a:endParaRPr>
          </a:p>
          <a:p>
            <a:r>
              <a:rPr sz="1100" b="1" dirty="0">
                <a:solidFill>
                  <a:schemeClr val="tx1"/>
                </a:solidFill>
              </a:rPr>
              <a:t>🌍 Scale:</a:t>
            </a:r>
          </a:p>
          <a:p>
            <a:r>
              <a:rPr sz="900" dirty="0">
                <a:solidFill>
                  <a:schemeClr val="tx1"/>
                </a:solidFill>
              </a:rPr>
              <a:t>  • 10 Indian languages supported</a:t>
            </a:r>
          </a:p>
          <a:p>
            <a:r>
              <a:rPr sz="900" dirty="0">
                <a:solidFill>
                  <a:schemeClr val="tx1"/>
                </a:solidFill>
              </a:rPr>
              <a:t>  • Serverless — auto-scales to millions</a:t>
            </a:r>
          </a:p>
          <a:p>
            <a:r>
              <a:rPr sz="900" dirty="0">
                <a:solidFill>
                  <a:schemeClr val="tx1"/>
                </a:solidFill>
              </a:rPr>
              <a:t>  • $0.0006 per patient cost</a:t>
            </a:r>
          </a:p>
          <a:p>
            <a:endParaRPr sz="900" dirty="0">
              <a:solidFill>
                <a:schemeClr val="tx1"/>
              </a:solidFill>
            </a:endParaRPr>
          </a:p>
          <a:p>
            <a:r>
              <a:rPr sz="1100" b="1" dirty="0">
                <a:solidFill>
                  <a:schemeClr val="tx1"/>
                </a:solidFill>
              </a:rPr>
              <a:t>🔒 Reliability:</a:t>
            </a:r>
          </a:p>
          <a:p>
            <a:r>
              <a:rPr sz="900" dirty="0">
                <a:solidFill>
                  <a:schemeClr val="tx1"/>
                </a:solidFill>
              </a:rPr>
              <a:t>  • AWS Lambda 99.95% SLA</a:t>
            </a:r>
          </a:p>
          <a:p>
            <a:r>
              <a:rPr sz="900" dirty="0">
                <a:solidFill>
                  <a:schemeClr val="tx1"/>
                </a:solidFill>
              </a:rPr>
              <a:t>  • DynamoDB 99.999% availability</a:t>
            </a:r>
          </a:p>
          <a:p>
            <a:r>
              <a:rPr sz="900" dirty="0">
                <a:solidFill>
                  <a:schemeClr val="tx1"/>
                </a:solidFill>
              </a:rPr>
              <a:t>  • CloudWatch monitoring active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4"/>
          <p:cNvSpPr txBox="1"/>
          <p:nvPr/>
        </p:nvSpPr>
        <p:spPr>
          <a:xfrm>
            <a:off x="311700" y="7369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sz="1100" b="1" dirty="0">
                <a:solidFill>
                  <a:schemeClr val="tx1"/>
                </a:solidFill>
              </a:rPr>
              <a:t>Additional Details / Future Development:</a:t>
            </a:r>
            <a:endParaRPr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  <a:p>
            <a:r>
              <a:rPr sz="1100" b="1" dirty="0">
                <a:solidFill>
                  <a:schemeClr val="tx1"/>
                </a:solidFill>
              </a:rPr>
              <a:t>🚀 Phase 2 (Next 3 months):</a:t>
            </a:r>
          </a:p>
          <a:p>
            <a:r>
              <a:rPr sz="900" dirty="0">
                <a:solidFill>
                  <a:schemeClr val="tx1"/>
                </a:solidFill>
              </a:rPr>
              <a:t>  • Integration with ABDM (Ayushman Bharat Digital Mission)</a:t>
            </a:r>
          </a:p>
          <a:p>
            <a:r>
              <a:rPr sz="900" dirty="0">
                <a:solidFill>
                  <a:schemeClr val="tx1"/>
                </a:solidFill>
              </a:rPr>
              <a:t>  • Real-time vitals monitoring via IoT devices</a:t>
            </a:r>
          </a:p>
          <a:p>
            <a:r>
              <a:rPr sz="900" dirty="0">
                <a:solidFill>
                  <a:schemeClr val="tx1"/>
                </a:solidFill>
              </a:rPr>
              <a:t>  • Telemedicine video consultation integration</a:t>
            </a:r>
          </a:p>
          <a:p>
            <a:r>
              <a:rPr sz="900" dirty="0">
                <a:solidFill>
                  <a:schemeClr val="tx1"/>
                </a:solidFill>
              </a:rPr>
              <a:t>  • Prescription management and pharmacy connect</a:t>
            </a:r>
          </a:p>
          <a:p>
            <a:endParaRPr sz="900" dirty="0">
              <a:solidFill>
                <a:schemeClr val="tx1"/>
              </a:solidFill>
            </a:endParaRPr>
          </a:p>
          <a:p>
            <a:r>
              <a:rPr sz="1100" b="1" dirty="0">
                <a:solidFill>
                  <a:schemeClr val="tx1"/>
                </a:solidFill>
              </a:rPr>
              <a:t>🌐 Phase 3 (6-12 months):</a:t>
            </a:r>
          </a:p>
          <a:p>
            <a:r>
              <a:rPr sz="900" dirty="0">
                <a:solidFill>
                  <a:schemeClr val="tx1"/>
                </a:solidFill>
              </a:rPr>
              <a:t>  • Expand to 22 Indian languages</a:t>
            </a:r>
          </a:p>
          <a:p>
            <a:r>
              <a:rPr sz="900" dirty="0">
                <a:solidFill>
                  <a:schemeClr val="tx1"/>
                </a:solidFill>
              </a:rPr>
              <a:t>  • Partner with PHCs (Primary Health Centers)</a:t>
            </a:r>
          </a:p>
          <a:p>
            <a:r>
              <a:rPr sz="900" dirty="0">
                <a:solidFill>
                  <a:schemeClr val="tx1"/>
                </a:solidFill>
              </a:rPr>
              <a:t>  • Government health scheme integration</a:t>
            </a:r>
          </a:p>
          <a:p>
            <a:r>
              <a:rPr sz="900" dirty="0">
                <a:solidFill>
                  <a:schemeClr val="tx1"/>
                </a:solidFill>
              </a:rPr>
              <a:t>  • Offline-first mode for low connectivity areas</a:t>
            </a:r>
          </a:p>
          <a:p>
            <a:endParaRPr sz="900" dirty="0">
              <a:solidFill>
                <a:schemeClr val="tx1"/>
              </a:solidFill>
            </a:endParaRPr>
          </a:p>
          <a:p>
            <a:r>
              <a:rPr sz="1100" b="1" dirty="0">
                <a:solidFill>
                  <a:schemeClr val="tx1"/>
                </a:solidFill>
              </a:rPr>
              <a:t>🤖 AI Enhancements:</a:t>
            </a:r>
          </a:p>
          <a:p>
            <a:r>
              <a:rPr sz="900" dirty="0">
                <a:solidFill>
                  <a:schemeClr val="tx1"/>
                </a:solidFill>
              </a:rPr>
              <a:t>  • Continuous learning from case outcomes</a:t>
            </a:r>
          </a:p>
          <a:p>
            <a:r>
              <a:rPr sz="900" dirty="0">
                <a:solidFill>
                  <a:schemeClr val="tx1"/>
                </a:solidFill>
              </a:rPr>
              <a:t>  • Predictive health alerts</a:t>
            </a:r>
          </a:p>
          <a:p>
            <a:r>
              <a:rPr sz="900" dirty="0">
                <a:solidFill>
                  <a:schemeClr val="tx1"/>
                </a:solidFill>
              </a:rPr>
              <a:t>  • Medical image analysis (X-ray, ECG)</a:t>
            </a:r>
          </a:p>
          <a:p>
            <a:r>
              <a:rPr sz="900" dirty="0">
                <a:solidFill>
                  <a:schemeClr val="tx1"/>
                </a:solidFill>
              </a:rPr>
              <a:t>  • Voice-based symptom input</a:t>
            </a:r>
          </a:p>
          <a:p>
            <a:endParaRPr sz="900" dirty="0">
              <a:solidFill>
                <a:schemeClr val="tx1"/>
              </a:solidFill>
            </a:endParaRPr>
          </a:p>
          <a:p>
            <a:r>
              <a:rPr sz="1100" b="1" dirty="0">
                <a:solidFill>
                  <a:schemeClr val="tx1"/>
                </a:solidFill>
              </a:rPr>
              <a:t>📊 Impact Target:</a:t>
            </a:r>
          </a:p>
          <a:p>
            <a:r>
              <a:rPr sz="900" dirty="0">
                <a:solidFill>
                  <a:schemeClr val="tx1"/>
                </a:solidFill>
              </a:rPr>
              <a:t>  • Year 1: 1M patients served</a:t>
            </a:r>
          </a:p>
          <a:p>
            <a:r>
              <a:rPr sz="900" dirty="0">
                <a:solidFill>
                  <a:schemeClr val="tx1"/>
                </a:solidFill>
              </a:rPr>
              <a:t>  • Year 3: 50M patients served</a:t>
            </a:r>
          </a:p>
          <a:p>
            <a:r>
              <a:rPr sz="900" dirty="0">
                <a:solidFill>
                  <a:schemeClr val="tx1"/>
                </a:solidFill>
              </a:rPr>
              <a:t>  • Year 5: 200M patients — covering rural India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5"/>
          <p:cNvSpPr txBox="1"/>
          <p:nvPr/>
        </p:nvSpPr>
        <p:spPr>
          <a:xfrm>
            <a:off x="311700" y="751142"/>
            <a:ext cx="7531800" cy="3641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sz="1100" b="1" dirty="0">
                <a:solidFill>
                  <a:schemeClr val="tx1"/>
                </a:solidFill>
              </a:rPr>
              <a:t>Prototype Assets:</a:t>
            </a:r>
            <a:endParaRPr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  <a:p>
            <a:r>
              <a:rPr sz="1100" b="1" dirty="0">
                <a:solidFill>
                  <a:schemeClr val="tx1"/>
                </a:solidFill>
              </a:rPr>
              <a:t>📦 GitHub Public Repository:</a:t>
            </a:r>
          </a:p>
          <a:p>
            <a:r>
              <a:rPr sz="900" dirty="0">
                <a:solidFill>
                  <a:schemeClr val="tx1"/>
                </a:solidFill>
              </a:rPr>
              <a:t>  https://github.com/NandaCodeBox/DecentralizedHealthcare</a:t>
            </a:r>
          </a:p>
          <a:p>
            <a:endParaRPr sz="900" dirty="0">
              <a:solidFill>
                <a:schemeClr val="tx1"/>
              </a:solidFill>
            </a:endParaRPr>
          </a:p>
          <a:p>
            <a:r>
              <a:rPr sz="1100" b="1" dirty="0">
                <a:solidFill>
                  <a:schemeClr val="tx1"/>
                </a:solidFill>
              </a:rPr>
              <a:t>🎬 Demo Video (3 Minutes):</a:t>
            </a:r>
          </a:p>
          <a:p>
            <a:r>
              <a:rPr sz="900" dirty="0">
                <a:solidFill>
                  <a:schemeClr val="tx1"/>
                </a:solidFill>
              </a:rPr>
              <a:t>  Video/Arogya_AI_Final_Synced.mp4</a:t>
            </a:r>
          </a:p>
          <a:p>
            <a:r>
              <a:rPr sz="900" dirty="0">
                <a:solidFill>
                  <a:schemeClr val="tx1"/>
                </a:solidFill>
              </a:rPr>
              <a:t>  • Patient journey in mobile view (390x844)</a:t>
            </a:r>
          </a:p>
          <a:p>
            <a:r>
              <a:rPr sz="900" dirty="0">
                <a:solidFill>
                  <a:schemeClr val="tx1"/>
                </a:solidFill>
              </a:rPr>
              <a:t>  • Supervisor dashboard in desktop view (1920x1080)</a:t>
            </a:r>
          </a:p>
          <a:p>
            <a:r>
              <a:rPr sz="900" dirty="0">
                <a:solidFill>
                  <a:schemeClr val="tx1"/>
                </a:solidFill>
              </a:rPr>
              <a:t>  • Professional voiceover with story-telling</a:t>
            </a:r>
          </a:p>
          <a:p>
            <a:r>
              <a:rPr sz="900" dirty="0">
                <a:solidFill>
                  <a:schemeClr val="tx1"/>
                </a:solidFill>
              </a:rPr>
              <a:t>  • All features + Agentic AI demonstrated</a:t>
            </a:r>
          </a:p>
          <a:p>
            <a:endParaRPr sz="900" dirty="0">
              <a:solidFill>
                <a:schemeClr val="tx1"/>
              </a:solidFill>
            </a:endParaRPr>
          </a:p>
          <a:p>
            <a:r>
              <a:rPr sz="1100" b="1" dirty="0">
                <a:solidFill>
                  <a:schemeClr val="tx1"/>
                </a:solidFill>
              </a:rPr>
              <a:t>🌐 Live Application:</a:t>
            </a:r>
          </a:p>
          <a:p>
            <a:r>
              <a:rPr sz="900" dirty="0">
                <a:solidFill>
                  <a:schemeClr val="tx1"/>
                </a:solidFill>
              </a:rPr>
              <a:t>  http://arogya-ai-healthcare-20260308102925</a:t>
            </a:r>
            <a:r>
              <a:rPr lang="en-US" sz="900" dirty="0">
                <a:solidFill>
                  <a:schemeClr val="tx1"/>
                </a:solidFill>
              </a:rPr>
              <a:t>.</a:t>
            </a:r>
            <a:r>
              <a:rPr sz="900" dirty="0">
                <a:solidFill>
                  <a:schemeClr val="tx1"/>
                </a:solidFill>
              </a:rPr>
              <a:t>s3-website-us-east-1.amazonaws.com</a:t>
            </a:r>
          </a:p>
          <a:p>
            <a:endParaRPr sz="900" dirty="0">
              <a:solidFill>
                <a:schemeClr val="tx1"/>
              </a:solidFill>
            </a:endParaRPr>
          </a:p>
          <a:p>
            <a:r>
              <a:rPr sz="1100" b="1" dirty="0">
                <a:solidFill>
                  <a:schemeClr val="tx1"/>
                </a:solidFill>
              </a:rPr>
              <a:t>🔑 Credentials:</a:t>
            </a:r>
          </a:p>
          <a:p>
            <a:r>
              <a:rPr sz="900" dirty="0">
                <a:solidFill>
                  <a:schemeClr val="tx1"/>
                </a:solidFill>
              </a:rPr>
              <a:t>  Patient: patient@arogya.ai / PatientPass123!</a:t>
            </a:r>
          </a:p>
          <a:p>
            <a:r>
              <a:rPr sz="900" dirty="0">
                <a:solidFill>
                  <a:schemeClr val="tx1"/>
                </a:solidFill>
              </a:rPr>
              <a:t>  Supervisor: supervisor@arogya.ai / SupervisorPass123!</a:t>
            </a:r>
          </a:p>
          <a:p>
            <a:endParaRPr sz="900" dirty="0">
              <a:solidFill>
                <a:schemeClr val="tx1"/>
              </a:solidFill>
            </a:endParaRPr>
          </a:p>
          <a:p>
            <a:r>
              <a:rPr sz="1100" b="1" dirty="0">
                <a:solidFill>
                  <a:schemeClr val="tx1"/>
                </a:solidFill>
              </a:rPr>
              <a:t>🤖 Agent Endpoints (AWS Lambda):</a:t>
            </a:r>
          </a:p>
          <a:p>
            <a:r>
              <a:rPr sz="900" dirty="0">
                <a:solidFill>
                  <a:schemeClr val="tx1"/>
                </a:solidFill>
              </a:rPr>
              <a:t>  Supervisor Agent:</a:t>
            </a:r>
          </a:p>
          <a:p>
            <a:r>
              <a:rPr sz="900" dirty="0">
                <a:solidFill>
                  <a:schemeClr val="tx1"/>
                </a:solidFill>
              </a:rPr>
              <a:t>    https://35v66sz7u43rqq67e5fqmh6yeu0svwme.lambda-url.us-east-1.on.aws/</a:t>
            </a:r>
          </a:p>
          <a:p>
            <a:r>
              <a:rPr sz="900" dirty="0">
                <a:solidFill>
                  <a:schemeClr val="tx1"/>
                </a:solidFill>
              </a:rPr>
              <a:t>  Care Pathway Agent:</a:t>
            </a:r>
          </a:p>
          <a:p>
            <a:r>
              <a:rPr sz="900" dirty="0">
                <a:solidFill>
                  <a:schemeClr val="tx1"/>
                </a:solidFill>
              </a:rPr>
              <a:t>    https://kfrboux5jjxxtteqkp44e3psca0nzcic.lambda-url.us-east-1.on.aws/</a:t>
            </a:r>
          </a:p>
          <a:p>
            <a:r>
              <a:rPr sz="900" dirty="0">
                <a:solidFill>
                  <a:schemeClr val="tx1"/>
                </a:solidFill>
              </a:rPr>
              <a:t>  Clinical Decision Agent:</a:t>
            </a:r>
          </a:p>
          <a:p>
            <a:r>
              <a:rPr sz="900" dirty="0">
                <a:solidFill>
                  <a:schemeClr val="tx1"/>
                </a:solidFill>
              </a:rPr>
              <a:t>    https://46cvklukkhccawngp5g2yd7fpi0tqswa.lambda-url.us-east-1.on.aws/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6" title="AI for Bharddat BANNER –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1900</Words>
  <Application>Microsoft Office PowerPoint</Application>
  <PresentationFormat>On-screen Show (16:9)</PresentationFormat>
  <Paragraphs>267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Segoe UI</vt:lpstr>
      <vt:lpstr>Arial</vt:lpstr>
      <vt:lpstr>Manrope</vt:lpstr>
      <vt:lpstr>Manrope SemiBold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Nanda</dc:creator>
  <cp:lastModifiedBy>Nanda Kumar N</cp:lastModifiedBy>
  <cp:revision>10</cp:revision>
  <dcterms:modified xsi:type="dcterms:W3CDTF">2026-03-08T18:02:57Z</dcterms:modified>
</cp:coreProperties>
</file>